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"/>
  </p:notesMasterIdLst>
  <p:handoutMasterIdLst>
    <p:handoutMasterId r:id="rId6"/>
  </p:handoutMasterIdLst>
  <p:sldIdLst>
    <p:sldId id="695" r:id="rId2"/>
    <p:sldId id="694" r:id="rId3"/>
    <p:sldId id="696" r:id="rId4"/>
  </p:sldIdLst>
  <p:sldSz cx="9144000" cy="6858000" type="screen4x3"/>
  <p:notesSz cx="68580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b="1" kern="1200">
        <a:solidFill>
          <a:srgbClr val="5F5F5F"/>
        </a:solidFill>
        <a:latin typeface="CorpidIS" pitchFamily="50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800" b="1" kern="1200">
        <a:solidFill>
          <a:srgbClr val="5F5F5F"/>
        </a:solidFill>
        <a:latin typeface="CorpidIS" pitchFamily="50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800" b="1" kern="1200">
        <a:solidFill>
          <a:srgbClr val="5F5F5F"/>
        </a:solidFill>
        <a:latin typeface="CorpidIS" pitchFamily="50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800" b="1" kern="1200">
        <a:solidFill>
          <a:srgbClr val="5F5F5F"/>
        </a:solidFill>
        <a:latin typeface="CorpidIS" pitchFamily="50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800" b="1" kern="1200">
        <a:solidFill>
          <a:srgbClr val="5F5F5F"/>
        </a:solidFill>
        <a:latin typeface="CorpidIS" pitchFamily="50" charset="0"/>
        <a:ea typeface="+mn-ea"/>
        <a:cs typeface="Arial" charset="0"/>
      </a:defRPr>
    </a:lvl5pPr>
    <a:lvl6pPr marL="2286000" algn="l" defTabSz="914400" rtl="0" eaLnBrk="1" latinLnBrk="0" hangingPunct="1">
      <a:defRPr sz="2800" b="1" kern="1200">
        <a:solidFill>
          <a:srgbClr val="5F5F5F"/>
        </a:solidFill>
        <a:latin typeface="CorpidIS" pitchFamily="50" charset="0"/>
        <a:ea typeface="+mn-ea"/>
        <a:cs typeface="Arial" charset="0"/>
      </a:defRPr>
    </a:lvl6pPr>
    <a:lvl7pPr marL="2743200" algn="l" defTabSz="914400" rtl="0" eaLnBrk="1" latinLnBrk="0" hangingPunct="1">
      <a:defRPr sz="2800" b="1" kern="1200">
        <a:solidFill>
          <a:srgbClr val="5F5F5F"/>
        </a:solidFill>
        <a:latin typeface="CorpidIS" pitchFamily="50" charset="0"/>
        <a:ea typeface="+mn-ea"/>
        <a:cs typeface="Arial" charset="0"/>
      </a:defRPr>
    </a:lvl7pPr>
    <a:lvl8pPr marL="3200400" algn="l" defTabSz="914400" rtl="0" eaLnBrk="1" latinLnBrk="0" hangingPunct="1">
      <a:defRPr sz="2800" b="1" kern="1200">
        <a:solidFill>
          <a:srgbClr val="5F5F5F"/>
        </a:solidFill>
        <a:latin typeface="CorpidIS" pitchFamily="50" charset="0"/>
        <a:ea typeface="+mn-ea"/>
        <a:cs typeface="Arial" charset="0"/>
      </a:defRPr>
    </a:lvl8pPr>
    <a:lvl9pPr marL="3657600" algn="l" defTabSz="914400" rtl="0" eaLnBrk="1" latinLnBrk="0" hangingPunct="1">
      <a:defRPr sz="2800" b="1" kern="1200">
        <a:solidFill>
          <a:srgbClr val="5F5F5F"/>
        </a:solidFill>
        <a:latin typeface="CorpidIS" pitchFamily="50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48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96" autoAdjust="0"/>
    <p:restoredTop sz="95878" autoAdjust="0"/>
  </p:normalViewPr>
  <p:slideViewPr>
    <p:cSldViewPr>
      <p:cViewPr>
        <p:scale>
          <a:sx n="70" d="100"/>
          <a:sy n="70" d="100"/>
        </p:scale>
        <p:origin x="-211" y="-2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54" y="4977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334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customXml" Target="../customXml/item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6526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3852" y="0"/>
            <a:ext cx="2972547" cy="46526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800300-E203-4BF7-B66D-385081CC66B0}" type="datetimeFigureOut">
              <a:rPr lang="en-US" smtClean="0"/>
              <a:pPr/>
              <a:t>7/13/2011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48"/>
            <a:ext cx="2972547" cy="4652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3852" y="8829648"/>
            <a:ext cx="2972547" cy="4652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C7E582-0729-42D8-9360-126A61D842A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3B0ACA-3555-435A-A681-E627CC2539FB}" type="datetimeFigureOut">
              <a:rPr lang="en-US" smtClean="0"/>
              <a:pPr/>
              <a:t>7/13/2011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49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1" y="4415790"/>
            <a:ext cx="5486400" cy="4183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4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8A5D3-0917-43B3-826F-CD99484695F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B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3850" y="-242888"/>
            <a:ext cx="9753600" cy="7315201"/>
          </a:xfrm>
          <a:prstGeom prst="rect">
            <a:avLst/>
          </a:prstGeom>
          <a:noFill/>
        </p:spPr>
      </p:pic>
      <p:pic>
        <p:nvPicPr>
          <p:cNvPr id="5123" name="Picture 3" descr="MArel_upphaf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23850" y="-315913"/>
            <a:ext cx="10009188" cy="7519988"/>
          </a:xfrm>
          <a:prstGeom prst="rect">
            <a:avLst/>
          </a:prstGeom>
          <a:noFill/>
        </p:spPr>
      </p:pic>
      <p:sp>
        <p:nvSpPr>
          <p:cNvPr id="512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476375" y="3860800"/>
            <a:ext cx="4894263" cy="720725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892300" y="4868863"/>
            <a:ext cx="4064000" cy="360362"/>
          </a:xfrm>
          <a:noFill/>
          <a:ln>
            <a:noFill/>
          </a:ln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126" name="Picture 6" descr="marelNe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08175" y="1895475"/>
            <a:ext cx="3997325" cy="1665288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/>
      <p:bldP spid="512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5125"/>
                        </p:tgtEl>
                      </p:cBhvr>
                    </p:animEffect>
                  </p:childTnLst>
                  <p:subTnLst>
                    <p:animClr>
                      <p:cBhvr override="childStyle">
                        <p:cTn dur="1" fill="hold" display="0" masterRel="nextClick" afterEffect="1"/>
                        <p:tgtEl>
                          <p:spTgt spid="5125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bg2"/>
                      </p:to>
                    </p:animClr>
                  </p:sub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44675"/>
            <a:ext cx="3924300" cy="4281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3900" y="1844675"/>
            <a:ext cx="3925888" cy="4281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9538" y="981075"/>
            <a:ext cx="2000250" cy="5145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81075"/>
            <a:ext cx="5849938" cy="5145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P_Grunnur_Sve_10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9588"/>
          </a:xfrm>
          <a:prstGeom prst="rect">
            <a:avLst/>
          </a:prstGeom>
          <a:noFill/>
        </p:spPr>
      </p:pic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981075"/>
            <a:ext cx="676910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44675"/>
            <a:ext cx="8002588" cy="4281488"/>
          </a:xfrm>
          <a:prstGeom prst="rect">
            <a:avLst/>
          </a:prstGeom>
          <a:solidFill>
            <a:srgbClr val="F3F3F3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/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2800" b="1">
          <a:solidFill>
            <a:srgbClr val="5F5F5F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rgbClr val="5F5F5F"/>
          </a:solidFill>
          <a:latin typeface="CorpidIS" pitchFamily="50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rgbClr val="5F5F5F"/>
          </a:solidFill>
          <a:latin typeface="CorpidIS" pitchFamily="50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rgbClr val="5F5F5F"/>
          </a:solidFill>
          <a:latin typeface="CorpidIS" pitchFamily="50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rgbClr val="5F5F5F"/>
          </a:solidFill>
          <a:latin typeface="CorpidIS" pitchFamily="50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rgbClr val="5F5F5F"/>
          </a:solidFill>
          <a:latin typeface="CorpidIS" pitchFamily="50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rgbClr val="5F5F5F"/>
          </a:solidFill>
          <a:latin typeface="CorpidIS" pitchFamily="50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rgbClr val="5F5F5F"/>
          </a:solidFill>
          <a:latin typeface="CorpidIS" pitchFamily="50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rgbClr val="5F5F5F"/>
          </a:solidFill>
          <a:latin typeface="CorpidIS" pitchFamily="50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SzPct val="60000"/>
        <a:buBlip>
          <a:blip r:embed="rId14"/>
        </a:buBlip>
        <a:defRPr sz="2800">
          <a:solidFill>
            <a:srgbClr val="5F5F5F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SzPct val="60000"/>
        <a:buBlip>
          <a:blip r:embed="rId14"/>
        </a:buBlip>
        <a:defRPr sz="2400">
          <a:solidFill>
            <a:srgbClr val="5F5F5F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SzPct val="60000"/>
        <a:buBlip>
          <a:blip r:embed="rId14"/>
        </a:buBlip>
        <a:defRPr>
          <a:solidFill>
            <a:srgbClr val="5F5F5F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SzPct val="60000"/>
        <a:buBlip>
          <a:blip r:embed="rId14"/>
        </a:buBlip>
        <a:defRPr>
          <a:solidFill>
            <a:srgbClr val="5F5F5F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SzPct val="60000"/>
        <a:buBlip>
          <a:blip r:embed="rId14"/>
        </a:buBlip>
        <a:defRPr>
          <a:solidFill>
            <a:srgbClr val="5F5F5F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60000"/>
        <a:buBlip>
          <a:blip r:embed="rId14"/>
        </a:buBlip>
        <a:defRPr>
          <a:solidFill>
            <a:srgbClr val="5F5F5F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60000"/>
        <a:buBlip>
          <a:blip r:embed="rId14"/>
        </a:buBlip>
        <a:defRPr>
          <a:solidFill>
            <a:srgbClr val="5F5F5F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60000"/>
        <a:buBlip>
          <a:blip r:embed="rId14"/>
        </a:buBlip>
        <a:defRPr>
          <a:solidFill>
            <a:srgbClr val="5F5F5F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60000"/>
        <a:buBlip>
          <a:blip r:embed="rId14"/>
        </a:buBlip>
        <a:defRPr>
          <a:solidFill>
            <a:srgbClr val="5F5F5F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 smtClean="0"/>
              <a:t>Piece-based and flow-based</a:t>
            </a:r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 bwMode="auto">
          <a:xfrm rot="10800000">
            <a:off x="611560" y="2818656"/>
            <a:ext cx="7560838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Freeform 16"/>
          <p:cNvSpPr/>
          <p:nvPr/>
        </p:nvSpPr>
        <p:spPr bwMode="auto">
          <a:xfrm>
            <a:off x="1774371" y="2276872"/>
            <a:ext cx="4125686" cy="533400"/>
          </a:xfrm>
          <a:custGeom>
            <a:avLst/>
            <a:gdLst>
              <a:gd name="connsiteX0" fmla="*/ 0 w 4125686"/>
              <a:gd name="connsiteY0" fmla="*/ 533400 h 533400"/>
              <a:gd name="connsiteX1" fmla="*/ 348343 w 4125686"/>
              <a:gd name="connsiteY1" fmla="*/ 370114 h 533400"/>
              <a:gd name="connsiteX2" fmla="*/ 413658 w 4125686"/>
              <a:gd name="connsiteY2" fmla="*/ 326571 h 533400"/>
              <a:gd name="connsiteX3" fmla="*/ 685800 w 4125686"/>
              <a:gd name="connsiteY3" fmla="*/ 206829 h 533400"/>
              <a:gd name="connsiteX4" fmla="*/ 794658 w 4125686"/>
              <a:gd name="connsiteY4" fmla="*/ 119743 h 533400"/>
              <a:gd name="connsiteX5" fmla="*/ 925286 w 4125686"/>
              <a:gd name="connsiteY5" fmla="*/ 21771 h 533400"/>
              <a:gd name="connsiteX6" fmla="*/ 1001486 w 4125686"/>
              <a:gd name="connsiteY6" fmla="*/ 0 h 533400"/>
              <a:gd name="connsiteX7" fmla="*/ 1295400 w 4125686"/>
              <a:gd name="connsiteY7" fmla="*/ 43543 h 533400"/>
              <a:gd name="connsiteX8" fmla="*/ 1328058 w 4125686"/>
              <a:gd name="connsiteY8" fmla="*/ 54429 h 533400"/>
              <a:gd name="connsiteX9" fmla="*/ 1426029 w 4125686"/>
              <a:gd name="connsiteY9" fmla="*/ 130629 h 533400"/>
              <a:gd name="connsiteX10" fmla="*/ 1469572 w 4125686"/>
              <a:gd name="connsiteY10" fmla="*/ 152400 h 533400"/>
              <a:gd name="connsiteX11" fmla="*/ 1502229 w 4125686"/>
              <a:gd name="connsiteY11" fmla="*/ 163286 h 533400"/>
              <a:gd name="connsiteX12" fmla="*/ 1578429 w 4125686"/>
              <a:gd name="connsiteY12" fmla="*/ 195943 h 533400"/>
              <a:gd name="connsiteX13" fmla="*/ 1676400 w 4125686"/>
              <a:gd name="connsiteY13" fmla="*/ 130629 h 533400"/>
              <a:gd name="connsiteX14" fmla="*/ 1709058 w 4125686"/>
              <a:gd name="connsiteY14" fmla="*/ 108857 h 533400"/>
              <a:gd name="connsiteX15" fmla="*/ 2002972 w 4125686"/>
              <a:gd name="connsiteY15" fmla="*/ 65314 h 533400"/>
              <a:gd name="connsiteX16" fmla="*/ 2068286 w 4125686"/>
              <a:gd name="connsiteY16" fmla="*/ 54429 h 533400"/>
              <a:gd name="connsiteX17" fmla="*/ 2754086 w 4125686"/>
              <a:gd name="connsiteY17" fmla="*/ 76200 h 533400"/>
              <a:gd name="connsiteX18" fmla="*/ 2775858 w 4125686"/>
              <a:gd name="connsiteY18" fmla="*/ 97971 h 533400"/>
              <a:gd name="connsiteX19" fmla="*/ 2862943 w 4125686"/>
              <a:gd name="connsiteY19" fmla="*/ 119743 h 533400"/>
              <a:gd name="connsiteX20" fmla="*/ 2982686 w 4125686"/>
              <a:gd name="connsiteY20" fmla="*/ 108857 h 533400"/>
              <a:gd name="connsiteX21" fmla="*/ 3091543 w 4125686"/>
              <a:gd name="connsiteY21" fmla="*/ 76200 h 533400"/>
              <a:gd name="connsiteX22" fmla="*/ 3135086 w 4125686"/>
              <a:gd name="connsiteY22" fmla="*/ 65314 h 533400"/>
              <a:gd name="connsiteX23" fmla="*/ 3352800 w 4125686"/>
              <a:gd name="connsiteY23" fmla="*/ 87086 h 533400"/>
              <a:gd name="connsiteX24" fmla="*/ 3429000 w 4125686"/>
              <a:gd name="connsiteY24" fmla="*/ 119743 h 533400"/>
              <a:gd name="connsiteX25" fmla="*/ 3494315 w 4125686"/>
              <a:gd name="connsiteY25" fmla="*/ 141514 h 533400"/>
              <a:gd name="connsiteX26" fmla="*/ 3537858 w 4125686"/>
              <a:gd name="connsiteY26" fmla="*/ 152400 h 533400"/>
              <a:gd name="connsiteX27" fmla="*/ 3581400 w 4125686"/>
              <a:gd name="connsiteY27" fmla="*/ 174171 h 533400"/>
              <a:gd name="connsiteX28" fmla="*/ 3624943 w 4125686"/>
              <a:gd name="connsiteY28" fmla="*/ 239486 h 533400"/>
              <a:gd name="connsiteX29" fmla="*/ 3668486 w 4125686"/>
              <a:gd name="connsiteY29" fmla="*/ 293914 h 533400"/>
              <a:gd name="connsiteX30" fmla="*/ 3744686 w 4125686"/>
              <a:gd name="connsiteY30" fmla="*/ 304800 h 533400"/>
              <a:gd name="connsiteX31" fmla="*/ 3810000 w 4125686"/>
              <a:gd name="connsiteY31" fmla="*/ 326571 h 533400"/>
              <a:gd name="connsiteX32" fmla="*/ 3853543 w 4125686"/>
              <a:gd name="connsiteY32" fmla="*/ 348343 h 533400"/>
              <a:gd name="connsiteX33" fmla="*/ 3907972 w 4125686"/>
              <a:gd name="connsiteY33" fmla="*/ 359229 h 533400"/>
              <a:gd name="connsiteX34" fmla="*/ 3973286 w 4125686"/>
              <a:gd name="connsiteY34" fmla="*/ 402771 h 533400"/>
              <a:gd name="connsiteX35" fmla="*/ 4005943 w 4125686"/>
              <a:gd name="connsiteY35" fmla="*/ 435429 h 533400"/>
              <a:gd name="connsiteX36" fmla="*/ 4049486 w 4125686"/>
              <a:gd name="connsiteY36" fmla="*/ 446314 h 533400"/>
              <a:gd name="connsiteX37" fmla="*/ 4103915 w 4125686"/>
              <a:gd name="connsiteY37" fmla="*/ 500743 h 533400"/>
              <a:gd name="connsiteX38" fmla="*/ 4125686 w 4125686"/>
              <a:gd name="connsiteY38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4125686" h="533400">
                <a:moveTo>
                  <a:pt x="0" y="533400"/>
                </a:moveTo>
                <a:cubicBezTo>
                  <a:pt x="116114" y="478971"/>
                  <a:pt x="241642" y="441247"/>
                  <a:pt x="348343" y="370114"/>
                </a:cubicBezTo>
                <a:cubicBezTo>
                  <a:pt x="370115" y="355600"/>
                  <a:pt x="390254" y="338273"/>
                  <a:pt x="413658" y="326571"/>
                </a:cubicBezTo>
                <a:cubicBezTo>
                  <a:pt x="595435" y="235682"/>
                  <a:pt x="578872" y="242469"/>
                  <a:pt x="685800" y="206829"/>
                </a:cubicBezTo>
                <a:cubicBezTo>
                  <a:pt x="812490" y="80139"/>
                  <a:pt x="629857" y="257079"/>
                  <a:pt x="794658" y="119743"/>
                </a:cubicBezTo>
                <a:cubicBezTo>
                  <a:pt x="813095" y="104378"/>
                  <a:pt x="898231" y="29501"/>
                  <a:pt x="925286" y="21771"/>
                </a:cubicBezTo>
                <a:lnTo>
                  <a:pt x="1001486" y="0"/>
                </a:lnTo>
                <a:lnTo>
                  <a:pt x="1295400" y="43543"/>
                </a:lnTo>
                <a:cubicBezTo>
                  <a:pt x="1306719" y="45429"/>
                  <a:pt x="1318510" y="48064"/>
                  <a:pt x="1328058" y="54429"/>
                </a:cubicBezTo>
                <a:cubicBezTo>
                  <a:pt x="1362482" y="77378"/>
                  <a:pt x="1389025" y="112127"/>
                  <a:pt x="1426029" y="130629"/>
                </a:cubicBezTo>
                <a:cubicBezTo>
                  <a:pt x="1440543" y="137886"/>
                  <a:pt x="1454657" y="146008"/>
                  <a:pt x="1469572" y="152400"/>
                </a:cubicBezTo>
                <a:cubicBezTo>
                  <a:pt x="1480119" y="156920"/>
                  <a:pt x="1491966" y="158154"/>
                  <a:pt x="1502229" y="163286"/>
                </a:cubicBezTo>
                <a:cubicBezTo>
                  <a:pt x="1577404" y="200873"/>
                  <a:pt x="1487808" y="173287"/>
                  <a:pt x="1578429" y="195943"/>
                </a:cubicBezTo>
                <a:cubicBezTo>
                  <a:pt x="1650901" y="141589"/>
                  <a:pt x="1592417" y="183119"/>
                  <a:pt x="1676400" y="130629"/>
                </a:cubicBezTo>
                <a:cubicBezTo>
                  <a:pt x="1687495" y="123695"/>
                  <a:pt x="1696737" y="113257"/>
                  <a:pt x="1709058" y="108857"/>
                </a:cubicBezTo>
                <a:cubicBezTo>
                  <a:pt x="1834535" y="64043"/>
                  <a:pt x="1858354" y="74353"/>
                  <a:pt x="2002972" y="65314"/>
                </a:cubicBezTo>
                <a:cubicBezTo>
                  <a:pt x="2024743" y="61686"/>
                  <a:pt x="2046214" y="54429"/>
                  <a:pt x="2068286" y="54429"/>
                </a:cubicBezTo>
                <a:cubicBezTo>
                  <a:pt x="2643210" y="54429"/>
                  <a:pt x="2491942" y="32508"/>
                  <a:pt x="2754086" y="76200"/>
                </a:cubicBezTo>
                <a:cubicBezTo>
                  <a:pt x="2761343" y="83457"/>
                  <a:pt x="2767057" y="92691"/>
                  <a:pt x="2775858" y="97971"/>
                </a:cubicBezTo>
                <a:cubicBezTo>
                  <a:pt x="2792595" y="108013"/>
                  <a:pt x="2851235" y="117401"/>
                  <a:pt x="2862943" y="119743"/>
                </a:cubicBezTo>
                <a:cubicBezTo>
                  <a:pt x="2902857" y="116114"/>
                  <a:pt x="2942959" y="114154"/>
                  <a:pt x="2982686" y="108857"/>
                </a:cubicBezTo>
                <a:cubicBezTo>
                  <a:pt x="3012791" y="104843"/>
                  <a:pt x="3066798" y="83623"/>
                  <a:pt x="3091543" y="76200"/>
                </a:cubicBezTo>
                <a:cubicBezTo>
                  <a:pt x="3105873" y="71901"/>
                  <a:pt x="3120572" y="68943"/>
                  <a:pt x="3135086" y="65314"/>
                </a:cubicBezTo>
                <a:cubicBezTo>
                  <a:pt x="3207657" y="72571"/>
                  <a:pt x="3280479" y="77653"/>
                  <a:pt x="3352800" y="87086"/>
                </a:cubicBezTo>
                <a:cubicBezTo>
                  <a:pt x="3378807" y="90478"/>
                  <a:pt x="3406372" y="110692"/>
                  <a:pt x="3429000" y="119743"/>
                </a:cubicBezTo>
                <a:cubicBezTo>
                  <a:pt x="3450308" y="128266"/>
                  <a:pt x="3472051" y="135948"/>
                  <a:pt x="3494315" y="141514"/>
                </a:cubicBezTo>
                <a:cubicBezTo>
                  <a:pt x="3508829" y="145143"/>
                  <a:pt x="3523850" y="147147"/>
                  <a:pt x="3537858" y="152400"/>
                </a:cubicBezTo>
                <a:cubicBezTo>
                  <a:pt x="3553052" y="158098"/>
                  <a:pt x="3566886" y="166914"/>
                  <a:pt x="3581400" y="174171"/>
                </a:cubicBezTo>
                <a:cubicBezTo>
                  <a:pt x="3595914" y="195943"/>
                  <a:pt x="3612236" y="216613"/>
                  <a:pt x="3624943" y="239486"/>
                </a:cubicBezTo>
                <a:cubicBezTo>
                  <a:pt x="3642936" y="271873"/>
                  <a:pt x="3622896" y="280237"/>
                  <a:pt x="3668486" y="293914"/>
                </a:cubicBezTo>
                <a:cubicBezTo>
                  <a:pt x="3693062" y="301287"/>
                  <a:pt x="3719286" y="301171"/>
                  <a:pt x="3744686" y="304800"/>
                </a:cubicBezTo>
                <a:cubicBezTo>
                  <a:pt x="3766457" y="312057"/>
                  <a:pt x="3788692" y="318048"/>
                  <a:pt x="3810000" y="326571"/>
                </a:cubicBezTo>
                <a:cubicBezTo>
                  <a:pt x="3825067" y="332598"/>
                  <a:pt x="3838148" y="343211"/>
                  <a:pt x="3853543" y="348343"/>
                </a:cubicBezTo>
                <a:cubicBezTo>
                  <a:pt x="3871096" y="354194"/>
                  <a:pt x="3889829" y="355600"/>
                  <a:pt x="3907972" y="359229"/>
                </a:cubicBezTo>
                <a:cubicBezTo>
                  <a:pt x="3929743" y="373743"/>
                  <a:pt x="3954784" y="384269"/>
                  <a:pt x="3973286" y="402771"/>
                </a:cubicBezTo>
                <a:cubicBezTo>
                  <a:pt x="3984172" y="413657"/>
                  <a:pt x="3992577" y="427791"/>
                  <a:pt x="4005943" y="435429"/>
                </a:cubicBezTo>
                <a:cubicBezTo>
                  <a:pt x="4018933" y="442852"/>
                  <a:pt x="4034972" y="442686"/>
                  <a:pt x="4049486" y="446314"/>
                </a:cubicBezTo>
                <a:cubicBezTo>
                  <a:pt x="4067629" y="464457"/>
                  <a:pt x="4089683" y="479394"/>
                  <a:pt x="4103915" y="500743"/>
                </a:cubicBezTo>
                <a:lnTo>
                  <a:pt x="4125686" y="533400"/>
                </a:lnTo>
              </a:path>
            </a:pathLst>
          </a:cu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rgbClr val="5F5F5F"/>
              </a:solidFill>
              <a:effectLst/>
              <a:latin typeface="CorpidIS" pitchFamily="50" charset="0"/>
              <a:cs typeface="Arial" charset="0"/>
            </a:endParaRPr>
          </a:p>
        </p:txBody>
      </p:sp>
      <p:cxnSp>
        <p:nvCxnSpPr>
          <p:cNvPr id="21" name="Straight Connector 20"/>
          <p:cNvCxnSpPr/>
          <p:nvPr/>
        </p:nvCxnSpPr>
        <p:spPr bwMode="auto">
          <a:xfrm rot="5400000">
            <a:off x="5292080" y="2492896"/>
            <a:ext cx="1152128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Arrow Connector 26"/>
          <p:cNvCxnSpPr/>
          <p:nvPr/>
        </p:nvCxnSpPr>
        <p:spPr bwMode="auto">
          <a:xfrm>
            <a:off x="3275856" y="2636912"/>
            <a:ext cx="1152128" cy="1588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5868144" y="1825079"/>
            <a:ext cx="1505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400" dirty="0" smtClean="0"/>
              <a:t>start of product</a:t>
            </a:r>
            <a:endParaRPr lang="en-US" sz="1400" dirty="0"/>
          </a:p>
        </p:txBody>
      </p:sp>
      <p:cxnSp>
        <p:nvCxnSpPr>
          <p:cNvPr id="30" name="Straight Connector 29"/>
          <p:cNvCxnSpPr/>
          <p:nvPr/>
        </p:nvCxnSpPr>
        <p:spPr bwMode="auto">
          <a:xfrm rot="5400000">
            <a:off x="1295636" y="2528900"/>
            <a:ext cx="108012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1835696" y="1897087"/>
            <a:ext cx="1435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400" dirty="0" smtClean="0"/>
              <a:t>end of product</a:t>
            </a:r>
            <a:endParaRPr lang="en-US" sz="1400" dirty="0"/>
          </a:p>
        </p:txBody>
      </p:sp>
      <p:cxnSp>
        <p:nvCxnSpPr>
          <p:cNvPr id="37" name="Straight Arrow Connector 36"/>
          <p:cNvCxnSpPr/>
          <p:nvPr/>
        </p:nvCxnSpPr>
        <p:spPr bwMode="auto">
          <a:xfrm>
            <a:off x="1835696" y="2996952"/>
            <a:ext cx="4032448" cy="1588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/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3131840" y="2977207"/>
            <a:ext cx="16530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400" dirty="0" smtClean="0"/>
              <a:t>length of product</a:t>
            </a:r>
            <a:endParaRPr lang="en-US" sz="1400" dirty="0"/>
          </a:p>
        </p:txBody>
      </p:sp>
      <p:sp>
        <p:nvSpPr>
          <p:cNvPr id="43" name="Content Placeholder 2"/>
          <p:cNvSpPr>
            <a:spLocks noGrp="1"/>
          </p:cNvSpPr>
          <p:nvPr>
            <p:ph idx="1"/>
          </p:nvPr>
        </p:nvSpPr>
        <p:spPr>
          <a:xfrm>
            <a:off x="611560" y="3645024"/>
            <a:ext cx="5184576" cy="2448272"/>
          </a:xfrm>
        </p:spPr>
        <p:txBody>
          <a:bodyPr/>
          <a:lstStyle/>
          <a:p>
            <a:endParaRPr lang="is-IS" sz="1600" b="1" dirty="0" smtClean="0"/>
          </a:p>
          <a:p>
            <a:r>
              <a:rPr lang="en-US" sz="1600" b="1" dirty="0" smtClean="0"/>
              <a:t>If length of product is longer than “max. lines in product”, the product will be </a:t>
            </a:r>
            <a:r>
              <a:rPr lang="en-US" sz="1600" b="1" dirty="0" smtClean="0"/>
              <a:t>automatically handled </a:t>
            </a:r>
            <a:r>
              <a:rPr lang="en-US" sz="1600" b="1" dirty="0" smtClean="0"/>
              <a:t>as a flow-based product </a:t>
            </a:r>
          </a:p>
          <a:p>
            <a:r>
              <a:rPr lang="is-IS" sz="1600" b="1" dirty="0" smtClean="0"/>
              <a:t>Software handles piece- and flow-based product same except for reject timing and statistics.</a:t>
            </a:r>
            <a:endParaRPr lang="en-US" sz="1600" b="1" dirty="0" smtClean="0"/>
          </a:p>
          <a:p>
            <a:r>
              <a:rPr lang="is-IS" sz="1600" b="1" dirty="0" smtClean="0"/>
              <a:t>Unit is ticks (1 tick ~ </a:t>
            </a:r>
            <a:r>
              <a:rPr lang="is-IS" sz="1600" b="1" dirty="0" smtClean="0"/>
              <a:t>0.5 mm</a:t>
            </a:r>
            <a:r>
              <a:rPr lang="is-IS" sz="1600" b="1" dirty="0" smtClean="0"/>
              <a:t>)</a:t>
            </a:r>
          </a:p>
          <a:p>
            <a:r>
              <a:rPr lang="is-IS" sz="1600" b="1" dirty="0" smtClean="0"/>
              <a:t>Use </a:t>
            </a:r>
            <a:r>
              <a:rPr lang="is-IS" sz="1600" b="1" dirty="0" smtClean="0"/>
              <a:t>500-1500 </a:t>
            </a:r>
            <a:r>
              <a:rPr lang="is-IS" sz="1600" b="1" dirty="0" smtClean="0"/>
              <a:t>as max.lines in product.</a:t>
            </a:r>
            <a:endParaRPr lang="en-US" sz="1600" b="1" dirty="0" smtClean="0"/>
          </a:p>
          <a:p>
            <a:endParaRPr lang="en-US" sz="1600" b="1" dirty="0" smtClean="0"/>
          </a:p>
        </p:txBody>
      </p:sp>
      <p:pic>
        <p:nvPicPr>
          <p:cNvPr id="2990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56177" y="5080406"/>
            <a:ext cx="2520280" cy="800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 smtClean="0"/>
              <a:t>Timing of reject, piece-based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 bwMode="auto">
          <a:xfrm>
            <a:off x="3203848" y="3501008"/>
            <a:ext cx="468052" cy="36004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rgbClr val="5F5F5F"/>
              </a:solidFill>
              <a:effectLst/>
              <a:latin typeface="CorpidIS" pitchFamily="50" charset="0"/>
              <a:cs typeface="Arial" charset="0"/>
            </a:endParaRPr>
          </a:p>
        </p:txBody>
      </p:sp>
      <p:cxnSp>
        <p:nvCxnSpPr>
          <p:cNvPr id="8" name="Straight Connector 7"/>
          <p:cNvCxnSpPr>
            <a:stCxn id="6" idx="7"/>
          </p:cNvCxnSpPr>
          <p:nvPr/>
        </p:nvCxnSpPr>
        <p:spPr bwMode="auto">
          <a:xfrm rot="16200000" flipV="1">
            <a:off x="1361014" y="1311393"/>
            <a:ext cx="1276863" cy="3207821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Oval 11"/>
          <p:cNvSpPr/>
          <p:nvPr/>
        </p:nvSpPr>
        <p:spPr bwMode="auto">
          <a:xfrm>
            <a:off x="5004048" y="4221088"/>
            <a:ext cx="468052" cy="36004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rgbClr val="5F5F5F"/>
              </a:solidFill>
              <a:effectLst/>
              <a:latin typeface="CorpidIS" pitchFamily="50" charset="0"/>
              <a:cs typeface="Arial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5508104" y="4293096"/>
            <a:ext cx="468052" cy="36004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rgbClr val="5F5F5F"/>
              </a:solidFill>
              <a:effectLst/>
              <a:latin typeface="CorpidIS" pitchFamily="50" charset="0"/>
              <a:cs typeface="Arial" charset="0"/>
            </a:endParaRPr>
          </a:p>
        </p:txBody>
      </p:sp>
      <p:cxnSp>
        <p:nvCxnSpPr>
          <p:cNvPr id="14" name="Straight Connector 13"/>
          <p:cNvCxnSpPr/>
          <p:nvPr/>
        </p:nvCxnSpPr>
        <p:spPr bwMode="auto">
          <a:xfrm rot="10800000" flipV="1">
            <a:off x="5724128" y="4293096"/>
            <a:ext cx="2160237" cy="3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/>
          <p:nvPr/>
        </p:nvCxnSpPr>
        <p:spPr bwMode="auto">
          <a:xfrm rot="10800000" flipV="1">
            <a:off x="5724130" y="4653135"/>
            <a:ext cx="1800199" cy="3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/>
          <p:nvPr/>
        </p:nvCxnSpPr>
        <p:spPr bwMode="auto">
          <a:xfrm rot="10800000">
            <a:off x="3593976" y="3547492"/>
            <a:ext cx="1767662" cy="70080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/>
          <p:nvPr/>
        </p:nvCxnSpPr>
        <p:spPr bwMode="auto">
          <a:xfrm rot="5400000">
            <a:off x="2116988" y="3963182"/>
            <a:ext cx="1595072" cy="1055965"/>
          </a:xfrm>
          <a:prstGeom prst="line">
            <a:avLst/>
          </a:prstGeom>
          <a:noFill/>
          <a:ln w="165100" cap="rnd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/>
          <p:nvPr/>
        </p:nvCxnSpPr>
        <p:spPr bwMode="auto">
          <a:xfrm rot="10800000" flipV="1">
            <a:off x="3758141" y="4409593"/>
            <a:ext cx="1488014" cy="1224137"/>
          </a:xfrm>
          <a:prstGeom prst="line">
            <a:avLst/>
          </a:prstGeom>
          <a:noFill/>
          <a:ln w="165100" cap="rnd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/>
          <p:nvPr/>
        </p:nvCxnSpPr>
        <p:spPr bwMode="auto">
          <a:xfrm rot="5400000">
            <a:off x="1666155" y="5398741"/>
            <a:ext cx="931979" cy="592898"/>
          </a:xfrm>
          <a:prstGeom prst="line">
            <a:avLst/>
          </a:prstGeom>
          <a:noFill/>
          <a:ln w="165100" cap="rnd" cmpd="sng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/>
          <p:cNvCxnSpPr/>
          <p:nvPr/>
        </p:nvCxnSpPr>
        <p:spPr bwMode="auto">
          <a:xfrm rot="10800000" flipV="1">
            <a:off x="2771800" y="5733256"/>
            <a:ext cx="783704" cy="648074"/>
          </a:xfrm>
          <a:prstGeom prst="line">
            <a:avLst/>
          </a:prstGeom>
          <a:noFill/>
          <a:ln w="165100" cap="rnd" cmpd="sng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Freeform 34"/>
          <p:cNvSpPr/>
          <p:nvPr/>
        </p:nvSpPr>
        <p:spPr bwMode="auto">
          <a:xfrm>
            <a:off x="899592" y="2401143"/>
            <a:ext cx="2160202" cy="912281"/>
          </a:xfrm>
          <a:custGeom>
            <a:avLst/>
            <a:gdLst>
              <a:gd name="connsiteX0" fmla="*/ 0 w 2160202"/>
              <a:gd name="connsiteY0" fmla="*/ 52310 h 912281"/>
              <a:gd name="connsiteX1" fmla="*/ 0 w 2160202"/>
              <a:gd name="connsiteY1" fmla="*/ 52310 h 912281"/>
              <a:gd name="connsiteX2" fmla="*/ 195943 w 2160202"/>
              <a:gd name="connsiteY2" fmla="*/ 19653 h 912281"/>
              <a:gd name="connsiteX3" fmla="*/ 620486 w 2160202"/>
              <a:gd name="connsiteY3" fmla="*/ 19653 h 912281"/>
              <a:gd name="connsiteX4" fmla="*/ 653143 w 2160202"/>
              <a:gd name="connsiteY4" fmla="*/ 30538 h 912281"/>
              <a:gd name="connsiteX5" fmla="*/ 729343 w 2160202"/>
              <a:gd name="connsiteY5" fmla="*/ 52310 h 912281"/>
              <a:gd name="connsiteX6" fmla="*/ 762000 w 2160202"/>
              <a:gd name="connsiteY6" fmla="*/ 74081 h 912281"/>
              <a:gd name="connsiteX7" fmla="*/ 783771 w 2160202"/>
              <a:gd name="connsiteY7" fmla="*/ 95853 h 912281"/>
              <a:gd name="connsiteX8" fmla="*/ 859971 w 2160202"/>
              <a:gd name="connsiteY8" fmla="*/ 117624 h 912281"/>
              <a:gd name="connsiteX9" fmla="*/ 892629 w 2160202"/>
              <a:gd name="connsiteY9" fmla="*/ 139395 h 912281"/>
              <a:gd name="connsiteX10" fmla="*/ 1088571 w 2160202"/>
              <a:gd name="connsiteY10" fmla="*/ 139395 h 912281"/>
              <a:gd name="connsiteX11" fmla="*/ 1556657 w 2160202"/>
              <a:gd name="connsiteY11" fmla="*/ 150281 h 912281"/>
              <a:gd name="connsiteX12" fmla="*/ 1621971 w 2160202"/>
              <a:gd name="connsiteY12" fmla="*/ 161167 h 912281"/>
              <a:gd name="connsiteX13" fmla="*/ 1654629 w 2160202"/>
              <a:gd name="connsiteY13" fmla="*/ 182938 h 912281"/>
              <a:gd name="connsiteX14" fmla="*/ 1687286 w 2160202"/>
              <a:gd name="connsiteY14" fmla="*/ 193824 h 912281"/>
              <a:gd name="connsiteX15" fmla="*/ 1719943 w 2160202"/>
              <a:gd name="connsiteY15" fmla="*/ 226481 h 912281"/>
              <a:gd name="connsiteX16" fmla="*/ 1741714 w 2160202"/>
              <a:gd name="connsiteY16" fmla="*/ 291795 h 912281"/>
              <a:gd name="connsiteX17" fmla="*/ 1752600 w 2160202"/>
              <a:gd name="connsiteY17" fmla="*/ 324453 h 912281"/>
              <a:gd name="connsiteX18" fmla="*/ 1774371 w 2160202"/>
              <a:gd name="connsiteY18" fmla="*/ 357110 h 912281"/>
              <a:gd name="connsiteX19" fmla="*/ 1807029 w 2160202"/>
              <a:gd name="connsiteY19" fmla="*/ 367995 h 912281"/>
              <a:gd name="connsiteX20" fmla="*/ 1828800 w 2160202"/>
              <a:gd name="connsiteY20" fmla="*/ 389767 h 912281"/>
              <a:gd name="connsiteX21" fmla="*/ 1905000 w 2160202"/>
              <a:gd name="connsiteY21" fmla="*/ 411538 h 912281"/>
              <a:gd name="connsiteX22" fmla="*/ 1915886 w 2160202"/>
              <a:gd name="connsiteY22" fmla="*/ 444195 h 912281"/>
              <a:gd name="connsiteX23" fmla="*/ 1937657 w 2160202"/>
              <a:gd name="connsiteY23" fmla="*/ 465967 h 912281"/>
              <a:gd name="connsiteX24" fmla="*/ 1959429 w 2160202"/>
              <a:gd name="connsiteY24" fmla="*/ 498624 h 912281"/>
              <a:gd name="connsiteX25" fmla="*/ 1981200 w 2160202"/>
              <a:gd name="connsiteY25" fmla="*/ 553053 h 912281"/>
              <a:gd name="connsiteX26" fmla="*/ 2122714 w 2160202"/>
              <a:gd name="connsiteY26" fmla="*/ 651024 h 912281"/>
              <a:gd name="connsiteX27" fmla="*/ 2155371 w 2160202"/>
              <a:gd name="connsiteY27" fmla="*/ 738110 h 912281"/>
              <a:gd name="connsiteX28" fmla="*/ 2144486 w 2160202"/>
              <a:gd name="connsiteY28" fmla="*/ 912281 h 912281"/>
              <a:gd name="connsiteX29" fmla="*/ 2144486 w 2160202"/>
              <a:gd name="connsiteY29" fmla="*/ 912281 h 912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160202" h="912281">
                <a:moveTo>
                  <a:pt x="0" y="52310"/>
                </a:moveTo>
                <a:lnTo>
                  <a:pt x="0" y="52310"/>
                </a:lnTo>
                <a:cubicBezTo>
                  <a:pt x="65314" y="41424"/>
                  <a:pt x="130133" y="26965"/>
                  <a:pt x="195943" y="19653"/>
                </a:cubicBezTo>
                <a:cubicBezTo>
                  <a:pt x="372819" y="0"/>
                  <a:pt x="437609" y="10944"/>
                  <a:pt x="620486" y="19653"/>
                </a:cubicBezTo>
                <a:cubicBezTo>
                  <a:pt x="631372" y="23281"/>
                  <a:pt x="642110" y="27386"/>
                  <a:pt x="653143" y="30538"/>
                </a:cubicBezTo>
                <a:cubicBezTo>
                  <a:pt x="669420" y="35189"/>
                  <a:pt x="711942" y="43610"/>
                  <a:pt x="729343" y="52310"/>
                </a:cubicBezTo>
                <a:cubicBezTo>
                  <a:pt x="741045" y="58161"/>
                  <a:pt x="751784" y="65908"/>
                  <a:pt x="762000" y="74081"/>
                </a:cubicBezTo>
                <a:cubicBezTo>
                  <a:pt x="770014" y="80492"/>
                  <a:pt x="774970" y="90573"/>
                  <a:pt x="783771" y="95853"/>
                </a:cubicBezTo>
                <a:cubicBezTo>
                  <a:pt x="794921" y="102543"/>
                  <a:pt x="851844" y="115592"/>
                  <a:pt x="859971" y="117624"/>
                </a:cubicBezTo>
                <a:cubicBezTo>
                  <a:pt x="870857" y="124881"/>
                  <a:pt x="880098" y="135636"/>
                  <a:pt x="892629" y="139395"/>
                </a:cubicBezTo>
                <a:cubicBezTo>
                  <a:pt x="961926" y="160184"/>
                  <a:pt x="1016035" y="145989"/>
                  <a:pt x="1088571" y="139395"/>
                </a:cubicBezTo>
                <a:lnTo>
                  <a:pt x="1556657" y="150281"/>
                </a:lnTo>
                <a:cubicBezTo>
                  <a:pt x="1578710" y="151181"/>
                  <a:pt x="1601032" y="154187"/>
                  <a:pt x="1621971" y="161167"/>
                </a:cubicBezTo>
                <a:cubicBezTo>
                  <a:pt x="1634383" y="165304"/>
                  <a:pt x="1642927" y="177087"/>
                  <a:pt x="1654629" y="182938"/>
                </a:cubicBezTo>
                <a:cubicBezTo>
                  <a:pt x="1664892" y="188070"/>
                  <a:pt x="1676400" y="190195"/>
                  <a:pt x="1687286" y="193824"/>
                </a:cubicBezTo>
                <a:cubicBezTo>
                  <a:pt x="1698172" y="204710"/>
                  <a:pt x="1712467" y="213024"/>
                  <a:pt x="1719943" y="226481"/>
                </a:cubicBezTo>
                <a:cubicBezTo>
                  <a:pt x="1731088" y="246542"/>
                  <a:pt x="1734457" y="270024"/>
                  <a:pt x="1741714" y="291795"/>
                </a:cubicBezTo>
                <a:cubicBezTo>
                  <a:pt x="1745343" y="302681"/>
                  <a:pt x="1746235" y="314905"/>
                  <a:pt x="1752600" y="324453"/>
                </a:cubicBezTo>
                <a:cubicBezTo>
                  <a:pt x="1759857" y="335339"/>
                  <a:pt x="1764155" y="348937"/>
                  <a:pt x="1774371" y="357110"/>
                </a:cubicBezTo>
                <a:cubicBezTo>
                  <a:pt x="1783331" y="364278"/>
                  <a:pt x="1796143" y="364367"/>
                  <a:pt x="1807029" y="367995"/>
                </a:cubicBezTo>
                <a:cubicBezTo>
                  <a:pt x="1814286" y="375252"/>
                  <a:pt x="1819999" y="384486"/>
                  <a:pt x="1828800" y="389767"/>
                </a:cubicBezTo>
                <a:cubicBezTo>
                  <a:pt x="1839957" y="396462"/>
                  <a:pt x="1896863" y="409504"/>
                  <a:pt x="1905000" y="411538"/>
                </a:cubicBezTo>
                <a:cubicBezTo>
                  <a:pt x="1908629" y="422424"/>
                  <a:pt x="1909982" y="434356"/>
                  <a:pt x="1915886" y="444195"/>
                </a:cubicBezTo>
                <a:cubicBezTo>
                  <a:pt x="1921166" y="452996"/>
                  <a:pt x="1931246" y="457953"/>
                  <a:pt x="1937657" y="465967"/>
                </a:cubicBezTo>
                <a:cubicBezTo>
                  <a:pt x="1945830" y="476183"/>
                  <a:pt x="1952172" y="487738"/>
                  <a:pt x="1959429" y="498624"/>
                </a:cubicBezTo>
                <a:cubicBezTo>
                  <a:pt x="1972880" y="538979"/>
                  <a:pt x="1965182" y="521018"/>
                  <a:pt x="1981200" y="553053"/>
                </a:cubicBezTo>
                <a:lnTo>
                  <a:pt x="2122714" y="651024"/>
                </a:lnTo>
                <a:cubicBezTo>
                  <a:pt x="2133600" y="680053"/>
                  <a:pt x="2152796" y="707214"/>
                  <a:pt x="2155371" y="738110"/>
                </a:cubicBezTo>
                <a:cubicBezTo>
                  <a:pt x="2160202" y="796079"/>
                  <a:pt x="2144486" y="912281"/>
                  <a:pt x="2144486" y="912281"/>
                </a:cubicBezTo>
                <a:lnTo>
                  <a:pt x="2144486" y="912281"/>
                </a:lnTo>
              </a:path>
            </a:pathLst>
          </a:cu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rgbClr val="5F5F5F"/>
              </a:solidFill>
              <a:effectLst/>
              <a:latin typeface="CorpidIS" pitchFamily="50" charset="0"/>
              <a:cs typeface="Arial" charset="0"/>
            </a:endParaRPr>
          </a:p>
        </p:txBody>
      </p:sp>
      <p:sp>
        <p:nvSpPr>
          <p:cNvPr id="36" name="Freeform 35"/>
          <p:cNvSpPr/>
          <p:nvPr/>
        </p:nvSpPr>
        <p:spPr bwMode="auto">
          <a:xfrm>
            <a:off x="2339752" y="2833191"/>
            <a:ext cx="272143" cy="76200"/>
          </a:xfrm>
          <a:custGeom>
            <a:avLst/>
            <a:gdLst>
              <a:gd name="connsiteX0" fmla="*/ 0 w 272143"/>
              <a:gd name="connsiteY0" fmla="*/ 10886 h 76200"/>
              <a:gd name="connsiteX1" fmla="*/ 32657 w 272143"/>
              <a:gd name="connsiteY1" fmla="*/ 0 h 76200"/>
              <a:gd name="connsiteX2" fmla="*/ 65314 w 272143"/>
              <a:gd name="connsiteY2" fmla="*/ 10886 h 76200"/>
              <a:gd name="connsiteX3" fmla="*/ 152400 w 272143"/>
              <a:gd name="connsiteY3" fmla="*/ 76200 h 76200"/>
              <a:gd name="connsiteX4" fmla="*/ 272143 w 272143"/>
              <a:gd name="connsiteY4" fmla="*/ 54428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2143" h="76200">
                <a:moveTo>
                  <a:pt x="0" y="10886"/>
                </a:moveTo>
                <a:cubicBezTo>
                  <a:pt x="10886" y="7257"/>
                  <a:pt x="21182" y="0"/>
                  <a:pt x="32657" y="0"/>
                </a:cubicBezTo>
                <a:cubicBezTo>
                  <a:pt x="44132" y="0"/>
                  <a:pt x="55283" y="5314"/>
                  <a:pt x="65314" y="10886"/>
                </a:cubicBezTo>
                <a:cubicBezTo>
                  <a:pt x="120709" y="41661"/>
                  <a:pt x="119368" y="43166"/>
                  <a:pt x="152400" y="76200"/>
                </a:cubicBezTo>
                <a:cubicBezTo>
                  <a:pt x="264815" y="53716"/>
                  <a:pt x="224253" y="54428"/>
                  <a:pt x="272143" y="54428"/>
                </a:cubicBezTo>
              </a:path>
            </a:pathLst>
          </a:cu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rgbClr val="5F5F5F"/>
              </a:solidFill>
              <a:effectLst/>
              <a:latin typeface="CorpidIS" pitchFamily="50" charset="0"/>
              <a:cs typeface="Arial" charset="0"/>
            </a:endParaRPr>
          </a:p>
        </p:txBody>
      </p:sp>
      <p:sp>
        <p:nvSpPr>
          <p:cNvPr id="37" name="Content Placeholder 2"/>
          <p:cNvSpPr>
            <a:spLocks noGrp="1"/>
          </p:cNvSpPr>
          <p:nvPr>
            <p:ph idx="1"/>
          </p:nvPr>
        </p:nvSpPr>
        <p:spPr>
          <a:xfrm>
            <a:off x="4572000" y="1556792"/>
            <a:ext cx="4392488" cy="2232248"/>
          </a:xfrm>
        </p:spPr>
        <p:txBody>
          <a:bodyPr/>
          <a:lstStyle/>
          <a:p>
            <a:endParaRPr lang="is-IS" sz="1600" b="1" dirty="0" smtClean="0"/>
          </a:p>
          <a:p>
            <a:r>
              <a:rPr lang="is-IS" sz="1600" b="1" dirty="0" smtClean="0"/>
              <a:t>Reject opens when start of piece is at the reject point, like shown in diagram.</a:t>
            </a:r>
          </a:p>
          <a:p>
            <a:r>
              <a:rPr lang="is-IS" sz="1600" b="1" dirty="0" smtClean="0"/>
              <a:t>Reject closes when end of piece crosses the reject point + additional time of </a:t>
            </a:r>
            <a:r>
              <a:rPr lang="is-IS" sz="1600" b="1" i="1" dirty="0" smtClean="0"/>
              <a:t>extra open ticks</a:t>
            </a:r>
            <a:r>
              <a:rPr lang="is-IS" sz="1600" b="1" dirty="0" smtClean="0"/>
              <a:t>.</a:t>
            </a:r>
          </a:p>
          <a:p>
            <a:r>
              <a:rPr lang="is-IS" sz="1600" b="1" dirty="0" smtClean="0"/>
              <a:t>Location of bone within piece does not affect reject timing.</a:t>
            </a:r>
          </a:p>
          <a:p>
            <a:endParaRPr lang="en-US" sz="1600" b="1" dirty="0" smtClean="0"/>
          </a:p>
          <a:p>
            <a:endParaRPr lang="en-US" sz="1600" b="1" dirty="0" smtClean="0"/>
          </a:p>
        </p:txBody>
      </p:sp>
      <p:cxnSp>
        <p:nvCxnSpPr>
          <p:cNvPr id="38" name="Straight Connector 37"/>
          <p:cNvCxnSpPr/>
          <p:nvPr/>
        </p:nvCxnSpPr>
        <p:spPr bwMode="auto">
          <a:xfrm rot="5400000">
            <a:off x="3131840" y="2708920"/>
            <a:ext cx="1152128" cy="43204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3707904" y="1916832"/>
            <a:ext cx="6623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400" dirty="0" smtClean="0"/>
              <a:t>reject</a:t>
            </a:r>
          </a:p>
          <a:p>
            <a:r>
              <a:rPr lang="is-IS" sz="1400" dirty="0" smtClean="0"/>
              <a:t>point</a:t>
            </a:r>
            <a:endParaRPr lang="en-US" sz="1400" dirty="0"/>
          </a:p>
        </p:txBody>
      </p:sp>
      <p:pic>
        <p:nvPicPr>
          <p:cNvPr id="3000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6136" y="5301208"/>
            <a:ext cx="2404945" cy="782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3" name="Straight Connector 42"/>
          <p:cNvCxnSpPr/>
          <p:nvPr/>
        </p:nvCxnSpPr>
        <p:spPr bwMode="auto">
          <a:xfrm rot="5400000">
            <a:off x="2188227" y="2572413"/>
            <a:ext cx="608583" cy="1750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2123728" y="1988840"/>
            <a:ext cx="6110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400" dirty="0" smtClean="0"/>
              <a:t>bone</a:t>
            </a:r>
            <a:endParaRPr lang="en-US" sz="1400" dirty="0"/>
          </a:p>
        </p:txBody>
      </p:sp>
      <p:cxnSp>
        <p:nvCxnSpPr>
          <p:cNvPr id="45" name="Straight Connector 44"/>
          <p:cNvCxnSpPr/>
          <p:nvPr/>
        </p:nvCxnSpPr>
        <p:spPr bwMode="auto">
          <a:xfrm rot="5400000">
            <a:off x="503548" y="2024844"/>
            <a:ext cx="1008112" cy="36004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/>
          <p:cNvCxnSpPr/>
          <p:nvPr/>
        </p:nvCxnSpPr>
        <p:spPr bwMode="auto">
          <a:xfrm rot="5400000">
            <a:off x="81373" y="1942963"/>
            <a:ext cx="988367" cy="36004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/>
          <p:cNvCxnSpPr/>
          <p:nvPr/>
        </p:nvCxnSpPr>
        <p:spPr bwMode="auto">
          <a:xfrm rot="5400000">
            <a:off x="2447764" y="2600908"/>
            <a:ext cx="1440160" cy="50405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Straight Connector 50"/>
          <p:cNvCxnSpPr/>
          <p:nvPr/>
        </p:nvCxnSpPr>
        <p:spPr bwMode="auto">
          <a:xfrm rot="5400000" flipH="1" flipV="1">
            <a:off x="1871700" y="3609020"/>
            <a:ext cx="1152128" cy="93610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4" name="TextBox 53"/>
          <p:cNvSpPr txBox="1"/>
          <p:nvPr/>
        </p:nvSpPr>
        <p:spPr>
          <a:xfrm>
            <a:off x="827584" y="4581128"/>
            <a:ext cx="12378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400" dirty="0" smtClean="0"/>
              <a:t>reject opens</a:t>
            </a:r>
            <a:endParaRPr lang="en-US" sz="1400" dirty="0"/>
          </a:p>
        </p:txBody>
      </p:sp>
      <p:cxnSp>
        <p:nvCxnSpPr>
          <p:cNvPr id="57" name="Straight Connector 56"/>
          <p:cNvCxnSpPr/>
          <p:nvPr/>
        </p:nvCxnSpPr>
        <p:spPr bwMode="auto">
          <a:xfrm rot="16200000" flipV="1">
            <a:off x="-288540" y="3320988"/>
            <a:ext cx="1512168" cy="14401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1" name="TextBox 60"/>
          <p:cNvSpPr txBox="1"/>
          <p:nvPr/>
        </p:nvSpPr>
        <p:spPr>
          <a:xfrm>
            <a:off x="899592" y="3284984"/>
            <a:ext cx="1566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400" dirty="0" smtClean="0"/>
              <a:t>extra open ticks</a:t>
            </a:r>
          </a:p>
        </p:txBody>
      </p:sp>
      <p:cxnSp>
        <p:nvCxnSpPr>
          <p:cNvPr id="62" name="Straight Arrow Connector 61"/>
          <p:cNvCxnSpPr/>
          <p:nvPr/>
        </p:nvCxnSpPr>
        <p:spPr bwMode="auto">
          <a:xfrm>
            <a:off x="467544" y="2420888"/>
            <a:ext cx="360040" cy="144016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/>
          </a:ln>
          <a:effectLst/>
        </p:spPr>
      </p:cxnSp>
      <p:cxnSp>
        <p:nvCxnSpPr>
          <p:cNvPr id="65" name="Straight Connector 64"/>
          <p:cNvCxnSpPr/>
          <p:nvPr/>
        </p:nvCxnSpPr>
        <p:spPr bwMode="auto">
          <a:xfrm rot="16200000" flipV="1">
            <a:off x="395536" y="2780928"/>
            <a:ext cx="864096" cy="28803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0" name="TextBox 69"/>
          <p:cNvSpPr txBox="1"/>
          <p:nvPr/>
        </p:nvSpPr>
        <p:spPr>
          <a:xfrm>
            <a:off x="395536" y="4077072"/>
            <a:ext cx="12682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400" dirty="0" smtClean="0"/>
              <a:t>reject closes</a:t>
            </a:r>
          </a:p>
        </p:txBody>
      </p:sp>
      <p:sp>
        <p:nvSpPr>
          <p:cNvPr id="74" name="TextBox 73"/>
          <p:cNvSpPr txBox="1"/>
          <p:nvPr/>
        </p:nvSpPr>
        <p:spPr>
          <a:xfrm rot="18162516">
            <a:off x="1804603" y="4815396"/>
            <a:ext cx="2265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400" dirty="0" smtClean="0"/>
              <a:t>reject in position “open”</a:t>
            </a:r>
            <a:endParaRPr lang="en-US" sz="1400" dirty="0"/>
          </a:p>
        </p:txBody>
      </p:sp>
      <p:sp>
        <p:nvSpPr>
          <p:cNvPr id="75" name="TextBox 74"/>
          <p:cNvSpPr txBox="1"/>
          <p:nvPr/>
        </p:nvSpPr>
        <p:spPr>
          <a:xfrm rot="19161820">
            <a:off x="2725504" y="5040631"/>
            <a:ext cx="2409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400" dirty="0" smtClean="0"/>
              <a:t>reject in position “closed”</a:t>
            </a:r>
            <a:endParaRPr lang="en-US" sz="1400" dirty="0"/>
          </a:p>
        </p:txBody>
      </p:sp>
      <p:sp>
        <p:nvSpPr>
          <p:cNvPr id="79" name="Freeform 78"/>
          <p:cNvSpPr/>
          <p:nvPr/>
        </p:nvSpPr>
        <p:spPr bwMode="auto">
          <a:xfrm rot="20306049">
            <a:off x="6320236" y="3794081"/>
            <a:ext cx="2160202" cy="912281"/>
          </a:xfrm>
          <a:custGeom>
            <a:avLst/>
            <a:gdLst>
              <a:gd name="connsiteX0" fmla="*/ 0 w 2160202"/>
              <a:gd name="connsiteY0" fmla="*/ 52310 h 912281"/>
              <a:gd name="connsiteX1" fmla="*/ 0 w 2160202"/>
              <a:gd name="connsiteY1" fmla="*/ 52310 h 912281"/>
              <a:gd name="connsiteX2" fmla="*/ 195943 w 2160202"/>
              <a:gd name="connsiteY2" fmla="*/ 19653 h 912281"/>
              <a:gd name="connsiteX3" fmla="*/ 620486 w 2160202"/>
              <a:gd name="connsiteY3" fmla="*/ 19653 h 912281"/>
              <a:gd name="connsiteX4" fmla="*/ 653143 w 2160202"/>
              <a:gd name="connsiteY4" fmla="*/ 30538 h 912281"/>
              <a:gd name="connsiteX5" fmla="*/ 729343 w 2160202"/>
              <a:gd name="connsiteY5" fmla="*/ 52310 h 912281"/>
              <a:gd name="connsiteX6" fmla="*/ 762000 w 2160202"/>
              <a:gd name="connsiteY6" fmla="*/ 74081 h 912281"/>
              <a:gd name="connsiteX7" fmla="*/ 783771 w 2160202"/>
              <a:gd name="connsiteY7" fmla="*/ 95853 h 912281"/>
              <a:gd name="connsiteX8" fmla="*/ 859971 w 2160202"/>
              <a:gd name="connsiteY8" fmla="*/ 117624 h 912281"/>
              <a:gd name="connsiteX9" fmla="*/ 892629 w 2160202"/>
              <a:gd name="connsiteY9" fmla="*/ 139395 h 912281"/>
              <a:gd name="connsiteX10" fmla="*/ 1088571 w 2160202"/>
              <a:gd name="connsiteY10" fmla="*/ 139395 h 912281"/>
              <a:gd name="connsiteX11" fmla="*/ 1556657 w 2160202"/>
              <a:gd name="connsiteY11" fmla="*/ 150281 h 912281"/>
              <a:gd name="connsiteX12" fmla="*/ 1621971 w 2160202"/>
              <a:gd name="connsiteY12" fmla="*/ 161167 h 912281"/>
              <a:gd name="connsiteX13" fmla="*/ 1654629 w 2160202"/>
              <a:gd name="connsiteY13" fmla="*/ 182938 h 912281"/>
              <a:gd name="connsiteX14" fmla="*/ 1687286 w 2160202"/>
              <a:gd name="connsiteY14" fmla="*/ 193824 h 912281"/>
              <a:gd name="connsiteX15" fmla="*/ 1719943 w 2160202"/>
              <a:gd name="connsiteY15" fmla="*/ 226481 h 912281"/>
              <a:gd name="connsiteX16" fmla="*/ 1741714 w 2160202"/>
              <a:gd name="connsiteY16" fmla="*/ 291795 h 912281"/>
              <a:gd name="connsiteX17" fmla="*/ 1752600 w 2160202"/>
              <a:gd name="connsiteY17" fmla="*/ 324453 h 912281"/>
              <a:gd name="connsiteX18" fmla="*/ 1774371 w 2160202"/>
              <a:gd name="connsiteY18" fmla="*/ 357110 h 912281"/>
              <a:gd name="connsiteX19" fmla="*/ 1807029 w 2160202"/>
              <a:gd name="connsiteY19" fmla="*/ 367995 h 912281"/>
              <a:gd name="connsiteX20" fmla="*/ 1828800 w 2160202"/>
              <a:gd name="connsiteY20" fmla="*/ 389767 h 912281"/>
              <a:gd name="connsiteX21" fmla="*/ 1905000 w 2160202"/>
              <a:gd name="connsiteY21" fmla="*/ 411538 h 912281"/>
              <a:gd name="connsiteX22" fmla="*/ 1915886 w 2160202"/>
              <a:gd name="connsiteY22" fmla="*/ 444195 h 912281"/>
              <a:gd name="connsiteX23" fmla="*/ 1937657 w 2160202"/>
              <a:gd name="connsiteY23" fmla="*/ 465967 h 912281"/>
              <a:gd name="connsiteX24" fmla="*/ 1959429 w 2160202"/>
              <a:gd name="connsiteY24" fmla="*/ 498624 h 912281"/>
              <a:gd name="connsiteX25" fmla="*/ 1981200 w 2160202"/>
              <a:gd name="connsiteY25" fmla="*/ 553053 h 912281"/>
              <a:gd name="connsiteX26" fmla="*/ 2122714 w 2160202"/>
              <a:gd name="connsiteY26" fmla="*/ 651024 h 912281"/>
              <a:gd name="connsiteX27" fmla="*/ 2155371 w 2160202"/>
              <a:gd name="connsiteY27" fmla="*/ 738110 h 912281"/>
              <a:gd name="connsiteX28" fmla="*/ 2144486 w 2160202"/>
              <a:gd name="connsiteY28" fmla="*/ 912281 h 912281"/>
              <a:gd name="connsiteX29" fmla="*/ 2144486 w 2160202"/>
              <a:gd name="connsiteY29" fmla="*/ 912281 h 912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160202" h="912281">
                <a:moveTo>
                  <a:pt x="0" y="52310"/>
                </a:moveTo>
                <a:lnTo>
                  <a:pt x="0" y="52310"/>
                </a:lnTo>
                <a:cubicBezTo>
                  <a:pt x="65314" y="41424"/>
                  <a:pt x="130133" y="26965"/>
                  <a:pt x="195943" y="19653"/>
                </a:cubicBezTo>
                <a:cubicBezTo>
                  <a:pt x="372819" y="0"/>
                  <a:pt x="437609" y="10944"/>
                  <a:pt x="620486" y="19653"/>
                </a:cubicBezTo>
                <a:cubicBezTo>
                  <a:pt x="631372" y="23281"/>
                  <a:pt x="642110" y="27386"/>
                  <a:pt x="653143" y="30538"/>
                </a:cubicBezTo>
                <a:cubicBezTo>
                  <a:pt x="669420" y="35189"/>
                  <a:pt x="711942" y="43610"/>
                  <a:pt x="729343" y="52310"/>
                </a:cubicBezTo>
                <a:cubicBezTo>
                  <a:pt x="741045" y="58161"/>
                  <a:pt x="751784" y="65908"/>
                  <a:pt x="762000" y="74081"/>
                </a:cubicBezTo>
                <a:cubicBezTo>
                  <a:pt x="770014" y="80492"/>
                  <a:pt x="774970" y="90573"/>
                  <a:pt x="783771" y="95853"/>
                </a:cubicBezTo>
                <a:cubicBezTo>
                  <a:pt x="794921" y="102543"/>
                  <a:pt x="851844" y="115592"/>
                  <a:pt x="859971" y="117624"/>
                </a:cubicBezTo>
                <a:cubicBezTo>
                  <a:pt x="870857" y="124881"/>
                  <a:pt x="880098" y="135636"/>
                  <a:pt x="892629" y="139395"/>
                </a:cubicBezTo>
                <a:cubicBezTo>
                  <a:pt x="961926" y="160184"/>
                  <a:pt x="1016035" y="145989"/>
                  <a:pt x="1088571" y="139395"/>
                </a:cubicBezTo>
                <a:lnTo>
                  <a:pt x="1556657" y="150281"/>
                </a:lnTo>
                <a:cubicBezTo>
                  <a:pt x="1578710" y="151181"/>
                  <a:pt x="1601032" y="154187"/>
                  <a:pt x="1621971" y="161167"/>
                </a:cubicBezTo>
                <a:cubicBezTo>
                  <a:pt x="1634383" y="165304"/>
                  <a:pt x="1642927" y="177087"/>
                  <a:pt x="1654629" y="182938"/>
                </a:cubicBezTo>
                <a:cubicBezTo>
                  <a:pt x="1664892" y="188070"/>
                  <a:pt x="1676400" y="190195"/>
                  <a:pt x="1687286" y="193824"/>
                </a:cubicBezTo>
                <a:cubicBezTo>
                  <a:pt x="1698172" y="204710"/>
                  <a:pt x="1712467" y="213024"/>
                  <a:pt x="1719943" y="226481"/>
                </a:cubicBezTo>
                <a:cubicBezTo>
                  <a:pt x="1731088" y="246542"/>
                  <a:pt x="1734457" y="270024"/>
                  <a:pt x="1741714" y="291795"/>
                </a:cubicBezTo>
                <a:cubicBezTo>
                  <a:pt x="1745343" y="302681"/>
                  <a:pt x="1746235" y="314905"/>
                  <a:pt x="1752600" y="324453"/>
                </a:cubicBezTo>
                <a:cubicBezTo>
                  <a:pt x="1759857" y="335339"/>
                  <a:pt x="1764155" y="348937"/>
                  <a:pt x="1774371" y="357110"/>
                </a:cubicBezTo>
                <a:cubicBezTo>
                  <a:pt x="1783331" y="364278"/>
                  <a:pt x="1796143" y="364367"/>
                  <a:pt x="1807029" y="367995"/>
                </a:cubicBezTo>
                <a:cubicBezTo>
                  <a:pt x="1814286" y="375252"/>
                  <a:pt x="1819999" y="384486"/>
                  <a:pt x="1828800" y="389767"/>
                </a:cubicBezTo>
                <a:cubicBezTo>
                  <a:pt x="1839957" y="396462"/>
                  <a:pt x="1896863" y="409504"/>
                  <a:pt x="1905000" y="411538"/>
                </a:cubicBezTo>
                <a:cubicBezTo>
                  <a:pt x="1908629" y="422424"/>
                  <a:pt x="1909982" y="434356"/>
                  <a:pt x="1915886" y="444195"/>
                </a:cubicBezTo>
                <a:cubicBezTo>
                  <a:pt x="1921166" y="452996"/>
                  <a:pt x="1931246" y="457953"/>
                  <a:pt x="1937657" y="465967"/>
                </a:cubicBezTo>
                <a:cubicBezTo>
                  <a:pt x="1945830" y="476183"/>
                  <a:pt x="1952172" y="487738"/>
                  <a:pt x="1959429" y="498624"/>
                </a:cubicBezTo>
                <a:cubicBezTo>
                  <a:pt x="1972880" y="538979"/>
                  <a:pt x="1965182" y="521018"/>
                  <a:pt x="1981200" y="553053"/>
                </a:cubicBezTo>
                <a:lnTo>
                  <a:pt x="2122714" y="651024"/>
                </a:lnTo>
                <a:cubicBezTo>
                  <a:pt x="2133600" y="680053"/>
                  <a:pt x="2152796" y="707214"/>
                  <a:pt x="2155371" y="738110"/>
                </a:cubicBezTo>
                <a:cubicBezTo>
                  <a:pt x="2160202" y="796079"/>
                  <a:pt x="2144486" y="912281"/>
                  <a:pt x="2144486" y="912281"/>
                </a:cubicBezTo>
                <a:lnTo>
                  <a:pt x="2144486" y="912281"/>
                </a:lnTo>
              </a:path>
            </a:pathLst>
          </a:cu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rgbClr val="5F5F5F"/>
              </a:solidFill>
              <a:effectLst/>
              <a:latin typeface="CorpidIS" pitchFamily="50" charset="0"/>
              <a:cs typeface="Arial" charset="0"/>
            </a:endParaRPr>
          </a:p>
        </p:txBody>
      </p:sp>
      <p:cxnSp>
        <p:nvCxnSpPr>
          <p:cNvPr id="39" name="Straight Arrow Connector 38"/>
          <p:cNvCxnSpPr/>
          <p:nvPr/>
        </p:nvCxnSpPr>
        <p:spPr bwMode="auto">
          <a:xfrm>
            <a:off x="1331640" y="2132856"/>
            <a:ext cx="1008112" cy="433636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6" name="Straight Arrow Connector 45"/>
          <p:cNvCxnSpPr/>
          <p:nvPr/>
        </p:nvCxnSpPr>
        <p:spPr bwMode="auto">
          <a:xfrm>
            <a:off x="7452320" y="4005064"/>
            <a:ext cx="1008112" cy="1588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 smtClean="0"/>
              <a:t>Timing of reject, flow-based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 bwMode="auto">
          <a:xfrm>
            <a:off x="3203848" y="3501008"/>
            <a:ext cx="468052" cy="36004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rgbClr val="5F5F5F"/>
              </a:solidFill>
              <a:effectLst/>
              <a:latin typeface="CorpidIS" pitchFamily="50" charset="0"/>
              <a:cs typeface="Arial" charset="0"/>
            </a:endParaRPr>
          </a:p>
        </p:txBody>
      </p:sp>
      <p:cxnSp>
        <p:nvCxnSpPr>
          <p:cNvPr id="8" name="Straight Connector 7"/>
          <p:cNvCxnSpPr>
            <a:stCxn id="6" idx="7"/>
          </p:cNvCxnSpPr>
          <p:nvPr/>
        </p:nvCxnSpPr>
        <p:spPr bwMode="auto">
          <a:xfrm rot="16200000" flipV="1">
            <a:off x="1361014" y="1311393"/>
            <a:ext cx="1276863" cy="3207821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Oval 11"/>
          <p:cNvSpPr/>
          <p:nvPr/>
        </p:nvSpPr>
        <p:spPr bwMode="auto">
          <a:xfrm>
            <a:off x="5004048" y="4221088"/>
            <a:ext cx="468052" cy="36004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rgbClr val="5F5F5F"/>
              </a:solidFill>
              <a:effectLst/>
              <a:latin typeface="CorpidIS" pitchFamily="50" charset="0"/>
              <a:cs typeface="Arial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5508104" y="4293096"/>
            <a:ext cx="468052" cy="36004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rgbClr val="5F5F5F"/>
              </a:solidFill>
              <a:effectLst/>
              <a:latin typeface="CorpidIS" pitchFamily="50" charset="0"/>
              <a:cs typeface="Arial" charset="0"/>
            </a:endParaRPr>
          </a:p>
        </p:txBody>
      </p:sp>
      <p:cxnSp>
        <p:nvCxnSpPr>
          <p:cNvPr id="14" name="Straight Connector 13"/>
          <p:cNvCxnSpPr/>
          <p:nvPr/>
        </p:nvCxnSpPr>
        <p:spPr bwMode="auto">
          <a:xfrm rot="10800000" flipV="1">
            <a:off x="5724128" y="4293096"/>
            <a:ext cx="2160237" cy="3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/>
          <p:nvPr/>
        </p:nvCxnSpPr>
        <p:spPr bwMode="auto">
          <a:xfrm rot="10800000" flipV="1">
            <a:off x="5724130" y="4653135"/>
            <a:ext cx="1800199" cy="3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/>
          <p:nvPr/>
        </p:nvCxnSpPr>
        <p:spPr bwMode="auto">
          <a:xfrm rot="10800000">
            <a:off x="3593976" y="3547492"/>
            <a:ext cx="1767662" cy="70080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/>
          <p:nvPr/>
        </p:nvCxnSpPr>
        <p:spPr bwMode="auto">
          <a:xfrm rot="5400000">
            <a:off x="2116988" y="3963182"/>
            <a:ext cx="1595072" cy="1055965"/>
          </a:xfrm>
          <a:prstGeom prst="line">
            <a:avLst/>
          </a:prstGeom>
          <a:noFill/>
          <a:ln w="165100" cap="rnd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/>
          <p:nvPr/>
        </p:nvCxnSpPr>
        <p:spPr bwMode="auto">
          <a:xfrm rot="10800000" flipV="1">
            <a:off x="3758141" y="4409593"/>
            <a:ext cx="1488014" cy="1224137"/>
          </a:xfrm>
          <a:prstGeom prst="line">
            <a:avLst/>
          </a:prstGeom>
          <a:noFill/>
          <a:ln w="165100" cap="rnd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/>
          <p:nvPr/>
        </p:nvCxnSpPr>
        <p:spPr bwMode="auto">
          <a:xfrm rot="5400000">
            <a:off x="1666155" y="5398741"/>
            <a:ext cx="931979" cy="592898"/>
          </a:xfrm>
          <a:prstGeom prst="line">
            <a:avLst/>
          </a:prstGeom>
          <a:noFill/>
          <a:ln w="165100" cap="rnd" cmpd="sng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/>
          <p:cNvCxnSpPr/>
          <p:nvPr/>
        </p:nvCxnSpPr>
        <p:spPr bwMode="auto">
          <a:xfrm rot="10800000" flipV="1">
            <a:off x="2771800" y="5733256"/>
            <a:ext cx="783704" cy="648074"/>
          </a:xfrm>
          <a:prstGeom prst="line">
            <a:avLst/>
          </a:prstGeom>
          <a:noFill/>
          <a:ln w="165100" cap="rnd" cmpd="sng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Freeform 34"/>
          <p:cNvSpPr/>
          <p:nvPr/>
        </p:nvSpPr>
        <p:spPr bwMode="auto">
          <a:xfrm>
            <a:off x="1331640" y="2564904"/>
            <a:ext cx="2160202" cy="912281"/>
          </a:xfrm>
          <a:custGeom>
            <a:avLst/>
            <a:gdLst>
              <a:gd name="connsiteX0" fmla="*/ 0 w 2160202"/>
              <a:gd name="connsiteY0" fmla="*/ 52310 h 912281"/>
              <a:gd name="connsiteX1" fmla="*/ 0 w 2160202"/>
              <a:gd name="connsiteY1" fmla="*/ 52310 h 912281"/>
              <a:gd name="connsiteX2" fmla="*/ 195943 w 2160202"/>
              <a:gd name="connsiteY2" fmla="*/ 19653 h 912281"/>
              <a:gd name="connsiteX3" fmla="*/ 620486 w 2160202"/>
              <a:gd name="connsiteY3" fmla="*/ 19653 h 912281"/>
              <a:gd name="connsiteX4" fmla="*/ 653143 w 2160202"/>
              <a:gd name="connsiteY4" fmla="*/ 30538 h 912281"/>
              <a:gd name="connsiteX5" fmla="*/ 729343 w 2160202"/>
              <a:gd name="connsiteY5" fmla="*/ 52310 h 912281"/>
              <a:gd name="connsiteX6" fmla="*/ 762000 w 2160202"/>
              <a:gd name="connsiteY6" fmla="*/ 74081 h 912281"/>
              <a:gd name="connsiteX7" fmla="*/ 783771 w 2160202"/>
              <a:gd name="connsiteY7" fmla="*/ 95853 h 912281"/>
              <a:gd name="connsiteX8" fmla="*/ 859971 w 2160202"/>
              <a:gd name="connsiteY8" fmla="*/ 117624 h 912281"/>
              <a:gd name="connsiteX9" fmla="*/ 892629 w 2160202"/>
              <a:gd name="connsiteY9" fmla="*/ 139395 h 912281"/>
              <a:gd name="connsiteX10" fmla="*/ 1088571 w 2160202"/>
              <a:gd name="connsiteY10" fmla="*/ 139395 h 912281"/>
              <a:gd name="connsiteX11" fmla="*/ 1556657 w 2160202"/>
              <a:gd name="connsiteY11" fmla="*/ 150281 h 912281"/>
              <a:gd name="connsiteX12" fmla="*/ 1621971 w 2160202"/>
              <a:gd name="connsiteY12" fmla="*/ 161167 h 912281"/>
              <a:gd name="connsiteX13" fmla="*/ 1654629 w 2160202"/>
              <a:gd name="connsiteY13" fmla="*/ 182938 h 912281"/>
              <a:gd name="connsiteX14" fmla="*/ 1687286 w 2160202"/>
              <a:gd name="connsiteY14" fmla="*/ 193824 h 912281"/>
              <a:gd name="connsiteX15" fmla="*/ 1719943 w 2160202"/>
              <a:gd name="connsiteY15" fmla="*/ 226481 h 912281"/>
              <a:gd name="connsiteX16" fmla="*/ 1741714 w 2160202"/>
              <a:gd name="connsiteY16" fmla="*/ 291795 h 912281"/>
              <a:gd name="connsiteX17" fmla="*/ 1752600 w 2160202"/>
              <a:gd name="connsiteY17" fmla="*/ 324453 h 912281"/>
              <a:gd name="connsiteX18" fmla="*/ 1774371 w 2160202"/>
              <a:gd name="connsiteY18" fmla="*/ 357110 h 912281"/>
              <a:gd name="connsiteX19" fmla="*/ 1807029 w 2160202"/>
              <a:gd name="connsiteY19" fmla="*/ 367995 h 912281"/>
              <a:gd name="connsiteX20" fmla="*/ 1828800 w 2160202"/>
              <a:gd name="connsiteY20" fmla="*/ 389767 h 912281"/>
              <a:gd name="connsiteX21" fmla="*/ 1905000 w 2160202"/>
              <a:gd name="connsiteY21" fmla="*/ 411538 h 912281"/>
              <a:gd name="connsiteX22" fmla="*/ 1915886 w 2160202"/>
              <a:gd name="connsiteY22" fmla="*/ 444195 h 912281"/>
              <a:gd name="connsiteX23" fmla="*/ 1937657 w 2160202"/>
              <a:gd name="connsiteY23" fmla="*/ 465967 h 912281"/>
              <a:gd name="connsiteX24" fmla="*/ 1959429 w 2160202"/>
              <a:gd name="connsiteY24" fmla="*/ 498624 h 912281"/>
              <a:gd name="connsiteX25" fmla="*/ 1981200 w 2160202"/>
              <a:gd name="connsiteY25" fmla="*/ 553053 h 912281"/>
              <a:gd name="connsiteX26" fmla="*/ 2122714 w 2160202"/>
              <a:gd name="connsiteY26" fmla="*/ 651024 h 912281"/>
              <a:gd name="connsiteX27" fmla="*/ 2155371 w 2160202"/>
              <a:gd name="connsiteY27" fmla="*/ 738110 h 912281"/>
              <a:gd name="connsiteX28" fmla="*/ 2144486 w 2160202"/>
              <a:gd name="connsiteY28" fmla="*/ 912281 h 912281"/>
              <a:gd name="connsiteX29" fmla="*/ 2144486 w 2160202"/>
              <a:gd name="connsiteY29" fmla="*/ 912281 h 912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160202" h="912281">
                <a:moveTo>
                  <a:pt x="0" y="52310"/>
                </a:moveTo>
                <a:lnTo>
                  <a:pt x="0" y="52310"/>
                </a:lnTo>
                <a:cubicBezTo>
                  <a:pt x="65314" y="41424"/>
                  <a:pt x="130133" y="26965"/>
                  <a:pt x="195943" y="19653"/>
                </a:cubicBezTo>
                <a:cubicBezTo>
                  <a:pt x="372819" y="0"/>
                  <a:pt x="437609" y="10944"/>
                  <a:pt x="620486" y="19653"/>
                </a:cubicBezTo>
                <a:cubicBezTo>
                  <a:pt x="631372" y="23281"/>
                  <a:pt x="642110" y="27386"/>
                  <a:pt x="653143" y="30538"/>
                </a:cubicBezTo>
                <a:cubicBezTo>
                  <a:pt x="669420" y="35189"/>
                  <a:pt x="711942" y="43610"/>
                  <a:pt x="729343" y="52310"/>
                </a:cubicBezTo>
                <a:cubicBezTo>
                  <a:pt x="741045" y="58161"/>
                  <a:pt x="751784" y="65908"/>
                  <a:pt x="762000" y="74081"/>
                </a:cubicBezTo>
                <a:cubicBezTo>
                  <a:pt x="770014" y="80492"/>
                  <a:pt x="774970" y="90573"/>
                  <a:pt x="783771" y="95853"/>
                </a:cubicBezTo>
                <a:cubicBezTo>
                  <a:pt x="794921" y="102543"/>
                  <a:pt x="851844" y="115592"/>
                  <a:pt x="859971" y="117624"/>
                </a:cubicBezTo>
                <a:cubicBezTo>
                  <a:pt x="870857" y="124881"/>
                  <a:pt x="880098" y="135636"/>
                  <a:pt x="892629" y="139395"/>
                </a:cubicBezTo>
                <a:cubicBezTo>
                  <a:pt x="961926" y="160184"/>
                  <a:pt x="1016035" y="145989"/>
                  <a:pt x="1088571" y="139395"/>
                </a:cubicBezTo>
                <a:lnTo>
                  <a:pt x="1556657" y="150281"/>
                </a:lnTo>
                <a:cubicBezTo>
                  <a:pt x="1578710" y="151181"/>
                  <a:pt x="1601032" y="154187"/>
                  <a:pt x="1621971" y="161167"/>
                </a:cubicBezTo>
                <a:cubicBezTo>
                  <a:pt x="1634383" y="165304"/>
                  <a:pt x="1642927" y="177087"/>
                  <a:pt x="1654629" y="182938"/>
                </a:cubicBezTo>
                <a:cubicBezTo>
                  <a:pt x="1664892" y="188070"/>
                  <a:pt x="1676400" y="190195"/>
                  <a:pt x="1687286" y="193824"/>
                </a:cubicBezTo>
                <a:cubicBezTo>
                  <a:pt x="1698172" y="204710"/>
                  <a:pt x="1712467" y="213024"/>
                  <a:pt x="1719943" y="226481"/>
                </a:cubicBezTo>
                <a:cubicBezTo>
                  <a:pt x="1731088" y="246542"/>
                  <a:pt x="1734457" y="270024"/>
                  <a:pt x="1741714" y="291795"/>
                </a:cubicBezTo>
                <a:cubicBezTo>
                  <a:pt x="1745343" y="302681"/>
                  <a:pt x="1746235" y="314905"/>
                  <a:pt x="1752600" y="324453"/>
                </a:cubicBezTo>
                <a:cubicBezTo>
                  <a:pt x="1759857" y="335339"/>
                  <a:pt x="1764155" y="348937"/>
                  <a:pt x="1774371" y="357110"/>
                </a:cubicBezTo>
                <a:cubicBezTo>
                  <a:pt x="1783331" y="364278"/>
                  <a:pt x="1796143" y="364367"/>
                  <a:pt x="1807029" y="367995"/>
                </a:cubicBezTo>
                <a:cubicBezTo>
                  <a:pt x="1814286" y="375252"/>
                  <a:pt x="1819999" y="384486"/>
                  <a:pt x="1828800" y="389767"/>
                </a:cubicBezTo>
                <a:cubicBezTo>
                  <a:pt x="1839957" y="396462"/>
                  <a:pt x="1896863" y="409504"/>
                  <a:pt x="1905000" y="411538"/>
                </a:cubicBezTo>
                <a:cubicBezTo>
                  <a:pt x="1908629" y="422424"/>
                  <a:pt x="1909982" y="434356"/>
                  <a:pt x="1915886" y="444195"/>
                </a:cubicBezTo>
                <a:cubicBezTo>
                  <a:pt x="1921166" y="452996"/>
                  <a:pt x="1931246" y="457953"/>
                  <a:pt x="1937657" y="465967"/>
                </a:cubicBezTo>
                <a:cubicBezTo>
                  <a:pt x="1945830" y="476183"/>
                  <a:pt x="1952172" y="487738"/>
                  <a:pt x="1959429" y="498624"/>
                </a:cubicBezTo>
                <a:cubicBezTo>
                  <a:pt x="1972880" y="538979"/>
                  <a:pt x="1965182" y="521018"/>
                  <a:pt x="1981200" y="553053"/>
                </a:cubicBezTo>
                <a:lnTo>
                  <a:pt x="2122714" y="651024"/>
                </a:lnTo>
                <a:cubicBezTo>
                  <a:pt x="2133600" y="680053"/>
                  <a:pt x="2152796" y="707214"/>
                  <a:pt x="2155371" y="738110"/>
                </a:cubicBezTo>
                <a:cubicBezTo>
                  <a:pt x="2160202" y="796079"/>
                  <a:pt x="2144486" y="912281"/>
                  <a:pt x="2144486" y="912281"/>
                </a:cubicBezTo>
                <a:lnTo>
                  <a:pt x="2144486" y="912281"/>
                </a:lnTo>
              </a:path>
            </a:pathLst>
          </a:cu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rgbClr val="5F5F5F"/>
              </a:solidFill>
              <a:effectLst/>
              <a:latin typeface="CorpidIS" pitchFamily="50" charset="0"/>
              <a:cs typeface="Arial" charset="0"/>
            </a:endParaRPr>
          </a:p>
        </p:txBody>
      </p:sp>
      <p:sp>
        <p:nvSpPr>
          <p:cNvPr id="37" name="Content Placeholder 2"/>
          <p:cNvSpPr>
            <a:spLocks noGrp="1"/>
          </p:cNvSpPr>
          <p:nvPr>
            <p:ph idx="1"/>
          </p:nvPr>
        </p:nvSpPr>
        <p:spPr>
          <a:xfrm>
            <a:off x="4644008" y="1484784"/>
            <a:ext cx="4320480" cy="1944216"/>
          </a:xfrm>
        </p:spPr>
        <p:txBody>
          <a:bodyPr/>
          <a:lstStyle/>
          <a:p>
            <a:endParaRPr lang="is-IS" sz="1600" b="1" dirty="0" smtClean="0"/>
          </a:p>
          <a:p>
            <a:r>
              <a:rPr lang="is-IS" sz="1600" b="1" dirty="0" smtClean="0"/>
              <a:t>Reject opens when </a:t>
            </a:r>
            <a:r>
              <a:rPr lang="is-IS" sz="1600" b="1" i="1" dirty="0" smtClean="0"/>
              <a:t>opening before bone </a:t>
            </a:r>
            <a:r>
              <a:rPr lang="is-IS" sz="1600" b="1" dirty="0" smtClean="0"/>
              <a:t>ticks is the distance from the bone to the reject point.</a:t>
            </a:r>
          </a:p>
          <a:p>
            <a:r>
              <a:rPr lang="is-IS" sz="1600" b="1" dirty="0" smtClean="0"/>
              <a:t>Reject closes when </a:t>
            </a:r>
            <a:r>
              <a:rPr lang="is-IS" sz="1600" b="1" i="1" dirty="0" smtClean="0"/>
              <a:t>opening after bone </a:t>
            </a:r>
            <a:r>
              <a:rPr lang="is-IS" sz="1600" b="1" dirty="0" smtClean="0"/>
              <a:t>ticks is the distance from the bone to the reject point.</a:t>
            </a:r>
          </a:p>
          <a:p>
            <a:endParaRPr lang="en-US" sz="1600" b="1" dirty="0" smtClean="0"/>
          </a:p>
          <a:p>
            <a:endParaRPr lang="en-US" sz="1600" b="1" dirty="0" smtClean="0"/>
          </a:p>
        </p:txBody>
      </p:sp>
      <p:cxnSp>
        <p:nvCxnSpPr>
          <p:cNvPr id="38" name="Straight Connector 37"/>
          <p:cNvCxnSpPr/>
          <p:nvPr/>
        </p:nvCxnSpPr>
        <p:spPr bwMode="auto">
          <a:xfrm rot="5400000">
            <a:off x="3131840" y="2708920"/>
            <a:ext cx="1152128" cy="43204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3851920" y="1916832"/>
            <a:ext cx="6623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400" dirty="0" smtClean="0"/>
              <a:t>reject</a:t>
            </a:r>
          </a:p>
          <a:p>
            <a:r>
              <a:rPr lang="is-IS" sz="1400" dirty="0" smtClean="0"/>
              <a:t>point</a:t>
            </a:r>
            <a:endParaRPr lang="en-US" sz="1400" dirty="0"/>
          </a:p>
        </p:txBody>
      </p:sp>
      <p:sp>
        <p:nvSpPr>
          <p:cNvPr id="21" name="Freeform 20"/>
          <p:cNvSpPr/>
          <p:nvPr/>
        </p:nvSpPr>
        <p:spPr bwMode="auto">
          <a:xfrm>
            <a:off x="251520" y="2132856"/>
            <a:ext cx="2160202" cy="912281"/>
          </a:xfrm>
          <a:custGeom>
            <a:avLst/>
            <a:gdLst>
              <a:gd name="connsiteX0" fmla="*/ 0 w 2160202"/>
              <a:gd name="connsiteY0" fmla="*/ 52310 h 912281"/>
              <a:gd name="connsiteX1" fmla="*/ 0 w 2160202"/>
              <a:gd name="connsiteY1" fmla="*/ 52310 h 912281"/>
              <a:gd name="connsiteX2" fmla="*/ 195943 w 2160202"/>
              <a:gd name="connsiteY2" fmla="*/ 19653 h 912281"/>
              <a:gd name="connsiteX3" fmla="*/ 620486 w 2160202"/>
              <a:gd name="connsiteY3" fmla="*/ 19653 h 912281"/>
              <a:gd name="connsiteX4" fmla="*/ 653143 w 2160202"/>
              <a:gd name="connsiteY4" fmla="*/ 30538 h 912281"/>
              <a:gd name="connsiteX5" fmla="*/ 729343 w 2160202"/>
              <a:gd name="connsiteY5" fmla="*/ 52310 h 912281"/>
              <a:gd name="connsiteX6" fmla="*/ 762000 w 2160202"/>
              <a:gd name="connsiteY6" fmla="*/ 74081 h 912281"/>
              <a:gd name="connsiteX7" fmla="*/ 783771 w 2160202"/>
              <a:gd name="connsiteY7" fmla="*/ 95853 h 912281"/>
              <a:gd name="connsiteX8" fmla="*/ 859971 w 2160202"/>
              <a:gd name="connsiteY8" fmla="*/ 117624 h 912281"/>
              <a:gd name="connsiteX9" fmla="*/ 892629 w 2160202"/>
              <a:gd name="connsiteY9" fmla="*/ 139395 h 912281"/>
              <a:gd name="connsiteX10" fmla="*/ 1088571 w 2160202"/>
              <a:gd name="connsiteY10" fmla="*/ 139395 h 912281"/>
              <a:gd name="connsiteX11" fmla="*/ 1556657 w 2160202"/>
              <a:gd name="connsiteY11" fmla="*/ 150281 h 912281"/>
              <a:gd name="connsiteX12" fmla="*/ 1621971 w 2160202"/>
              <a:gd name="connsiteY12" fmla="*/ 161167 h 912281"/>
              <a:gd name="connsiteX13" fmla="*/ 1654629 w 2160202"/>
              <a:gd name="connsiteY13" fmla="*/ 182938 h 912281"/>
              <a:gd name="connsiteX14" fmla="*/ 1687286 w 2160202"/>
              <a:gd name="connsiteY14" fmla="*/ 193824 h 912281"/>
              <a:gd name="connsiteX15" fmla="*/ 1719943 w 2160202"/>
              <a:gd name="connsiteY15" fmla="*/ 226481 h 912281"/>
              <a:gd name="connsiteX16" fmla="*/ 1741714 w 2160202"/>
              <a:gd name="connsiteY16" fmla="*/ 291795 h 912281"/>
              <a:gd name="connsiteX17" fmla="*/ 1752600 w 2160202"/>
              <a:gd name="connsiteY17" fmla="*/ 324453 h 912281"/>
              <a:gd name="connsiteX18" fmla="*/ 1774371 w 2160202"/>
              <a:gd name="connsiteY18" fmla="*/ 357110 h 912281"/>
              <a:gd name="connsiteX19" fmla="*/ 1807029 w 2160202"/>
              <a:gd name="connsiteY19" fmla="*/ 367995 h 912281"/>
              <a:gd name="connsiteX20" fmla="*/ 1828800 w 2160202"/>
              <a:gd name="connsiteY20" fmla="*/ 389767 h 912281"/>
              <a:gd name="connsiteX21" fmla="*/ 1905000 w 2160202"/>
              <a:gd name="connsiteY21" fmla="*/ 411538 h 912281"/>
              <a:gd name="connsiteX22" fmla="*/ 1915886 w 2160202"/>
              <a:gd name="connsiteY22" fmla="*/ 444195 h 912281"/>
              <a:gd name="connsiteX23" fmla="*/ 1937657 w 2160202"/>
              <a:gd name="connsiteY23" fmla="*/ 465967 h 912281"/>
              <a:gd name="connsiteX24" fmla="*/ 1959429 w 2160202"/>
              <a:gd name="connsiteY24" fmla="*/ 498624 h 912281"/>
              <a:gd name="connsiteX25" fmla="*/ 1981200 w 2160202"/>
              <a:gd name="connsiteY25" fmla="*/ 553053 h 912281"/>
              <a:gd name="connsiteX26" fmla="*/ 2122714 w 2160202"/>
              <a:gd name="connsiteY26" fmla="*/ 651024 h 912281"/>
              <a:gd name="connsiteX27" fmla="*/ 2155371 w 2160202"/>
              <a:gd name="connsiteY27" fmla="*/ 738110 h 912281"/>
              <a:gd name="connsiteX28" fmla="*/ 2144486 w 2160202"/>
              <a:gd name="connsiteY28" fmla="*/ 912281 h 912281"/>
              <a:gd name="connsiteX29" fmla="*/ 2144486 w 2160202"/>
              <a:gd name="connsiteY29" fmla="*/ 912281 h 912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160202" h="912281">
                <a:moveTo>
                  <a:pt x="0" y="52310"/>
                </a:moveTo>
                <a:lnTo>
                  <a:pt x="0" y="52310"/>
                </a:lnTo>
                <a:cubicBezTo>
                  <a:pt x="65314" y="41424"/>
                  <a:pt x="130133" y="26965"/>
                  <a:pt x="195943" y="19653"/>
                </a:cubicBezTo>
                <a:cubicBezTo>
                  <a:pt x="372819" y="0"/>
                  <a:pt x="437609" y="10944"/>
                  <a:pt x="620486" y="19653"/>
                </a:cubicBezTo>
                <a:cubicBezTo>
                  <a:pt x="631372" y="23281"/>
                  <a:pt x="642110" y="27386"/>
                  <a:pt x="653143" y="30538"/>
                </a:cubicBezTo>
                <a:cubicBezTo>
                  <a:pt x="669420" y="35189"/>
                  <a:pt x="711942" y="43610"/>
                  <a:pt x="729343" y="52310"/>
                </a:cubicBezTo>
                <a:cubicBezTo>
                  <a:pt x="741045" y="58161"/>
                  <a:pt x="751784" y="65908"/>
                  <a:pt x="762000" y="74081"/>
                </a:cubicBezTo>
                <a:cubicBezTo>
                  <a:pt x="770014" y="80492"/>
                  <a:pt x="774970" y="90573"/>
                  <a:pt x="783771" y="95853"/>
                </a:cubicBezTo>
                <a:cubicBezTo>
                  <a:pt x="794921" y="102543"/>
                  <a:pt x="851844" y="115592"/>
                  <a:pt x="859971" y="117624"/>
                </a:cubicBezTo>
                <a:cubicBezTo>
                  <a:pt x="870857" y="124881"/>
                  <a:pt x="880098" y="135636"/>
                  <a:pt x="892629" y="139395"/>
                </a:cubicBezTo>
                <a:cubicBezTo>
                  <a:pt x="961926" y="160184"/>
                  <a:pt x="1016035" y="145989"/>
                  <a:pt x="1088571" y="139395"/>
                </a:cubicBezTo>
                <a:lnTo>
                  <a:pt x="1556657" y="150281"/>
                </a:lnTo>
                <a:cubicBezTo>
                  <a:pt x="1578710" y="151181"/>
                  <a:pt x="1601032" y="154187"/>
                  <a:pt x="1621971" y="161167"/>
                </a:cubicBezTo>
                <a:cubicBezTo>
                  <a:pt x="1634383" y="165304"/>
                  <a:pt x="1642927" y="177087"/>
                  <a:pt x="1654629" y="182938"/>
                </a:cubicBezTo>
                <a:cubicBezTo>
                  <a:pt x="1664892" y="188070"/>
                  <a:pt x="1676400" y="190195"/>
                  <a:pt x="1687286" y="193824"/>
                </a:cubicBezTo>
                <a:cubicBezTo>
                  <a:pt x="1698172" y="204710"/>
                  <a:pt x="1712467" y="213024"/>
                  <a:pt x="1719943" y="226481"/>
                </a:cubicBezTo>
                <a:cubicBezTo>
                  <a:pt x="1731088" y="246542"/>
                  <a:pt x="1734457" y="270024"/>
                  <a:pt x="1741714" y="291795"/>
                </a:cubicBezTo>
                <a:cubicBezTo>
                  <a:pt x="1745343" y="302681"/>
                  <a:pt x="1746235" y="314905"/>
                  <a:pt x="1752600" y="324453"/>
                </a:cubicBezTo>
                <a:cubicBezTo>
                  <a:pt x="1759857" y="335339"/>
                  <a:pt x="1764155" y="348937"/>
                  <a:pt x="1774371" y="357110"/>
                </a:cubicBezTo>
                <a:cubicBezTo>
                  <a:pt x="1783331" y="364278"/>
                  <a:pt x="1796143" y="364367"/>
                  <a:pt x="1807029" y="367995"/>
                </a:cubicBezTo>
                <a:cubicBezTo>
                  <a:pt x="1814286" y="375252"/>
                  <a:pt x="1819999" y="384486"/>
                  <a:pt x="1828800" y="389767"/>
                </a:cubicBezTo>
                <a:cubicBezTo>
                  <a:pt x="1839957" y="396462"/>
                  <a:pt x="1896863" y="409504"/>
                  <a:pt x="1905000" y="411538"/>
                </a:cubicBezTo>
                <a:cubicBezTo>
                  <a:pt x="1908629" y="422424"/>
                  <a:pt x="1909982" y="434356"/>
                  <a:pt x="1915886" y="444195"/>
                </a:cubicBezTo>
                <a:cubicBezTo>
                  <a:pt x="1921166" y="452996"/>
                  <a:pt x="1931246" y="457953"/>
                  <a:pt x="1937657" y="465967"/>
                </a:cubicBezTo>
                <a:cubicBezTo>
                  <a:pt x="1945830" y="476183"/>
                  <a:pt x="1952172" y="487738"/>
                  <a:pt x="1959429" y="498624"/>
                </a:cubicBezTo>
                <a:cubicBezTo>
                  <a:pt x="1972880" y="538979"/>
                  <a:pt x="1965182" y="521018"/>
                  <a:pt x="1981200" y="553053"/>
                </a:cubicBezTo>
                <a:lnTo>
                  <a:pt x="2122714" y="651024"/>
                </a:lnTo>
                <a:cubicBezTo>
                  <a:pt x="2133600" y="680053"/>
                  <a:pt x="2152796" y="707214"/>
                  <a:pt x="2155371" y="738110"/>
                </a:cubicBezTo>
                <a:cubicBezTo>
                  <a:pt x="2160202" y="796079"/>
                  <a:pt x="2144486" y="912281"/>
                  <a:pt x="2144486" y="912281"/>
                </a:cubicBezTo>
                <a:lnTo>
                  <a:pt x="2144486" y="912281"/>
                </a:lnTo>
              </a:path>
            </a:pathLst>
          </a:cu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rgbClr val="5F5F5F"/>
              </a:solidFill>
              <a:effectLst/>
              <a:latin typeface="CorpidIS" pitchFamily="50" charset="0"/>
              <a:cs typeface="Arial" charset="0"/>
            </a:endParaRPr>
          </a:p>
        </p:txBody>
      </p:sp>
      <p:sp>
        <p:nvSpPr>
          <p:cNvPr id="23" name="Freeform 22"/>
          <p:cNvSpPr/>
          <p:nvPr/>
        </p:nvSpPr>
        <p:spPr bwMode="auto">
          <a:xfrm>
            <a:off x="3275856" y="3356992"/>
            <a:ext cx="2160202" cy="912281"/>
          </a:xfrm>
          <a:custGeom>
            <a:avLst/>
            <a:gdLst>
              <a:gd name="connsiteX0" fmla="*/ 0 w 2160202"/>
              <a:gd name="connsiteY0" fmla="*/ 52310 h 912281"/>
              <a:gd name="connsiteX1" fmla="*/ 0 w 2160202"/>
              <a:gd name="connsiteY1" fmla="*/ 52310 h 912281"/>
              <a:gd name="connsiteX2" fmla="*/ 195943 w 2160202"/>
              <a:gd name="connsiteY2" fmla="*/ 19653 h 912281"/>
              <a:gd name="connsiteX3" fmla="*/ 620486 w 2160202"/>
              <a:gd name="connsiteY3" fmla="*/ 19653 h 912281"/>
              <a:gd name="connsiteX4" fmla="*/ 653143 w 2160202"/>
              <a:gd name="connsiteY4" fmla="*/ 30538 h 912281"/>
              <a:gd name="connsiteX5" fmla="*/ 729343 w 2160202"/>
              <a:gd name="connsiteY5" fmla="*/ 52310 h 912281"/>
              <a:gd name="connsiteX6" fmla="*/ 762000 w 2160202"/>
              <a:gd name="connsiteY6" fmla="*/ 74081 h 912281"/>
              <a:gd name="connsiteX7" fmla="*/ 783771 w 2160202"/>
              <a:gd name="connsiteY7" fmla="*/ 95853 h 912281"/>
              <a:gd name="connsiteX8" fmla="*/ 859971 w 2160202"/>
              <a:gd name="connsiteY8" fmla="*/ 117624 h 912281"/>
              <a:gd name="connsiteX9" fmla="*/ 892629 w 2160202"/>
              <a:gd name="connsiteY9" fmla="*/ 139395 h 912281"/>
              <a:gd name="connsiteX10" fmla="*/ 1088571 w 2160202"/>
              <a:gd name="connsiteY10" fmla="*/ 139395 h 912281"/>
              <a:gd name="connsiteX11" fmla="*/ 1556657 w 2160202"/>
              <a:gd name="connsiteY11" fmla="*/ 150281 h 912281"/>
              <a:gd name="connsiteX12" fmla="*/ 1621971 w 2160202"/>
              <a:gd name="connsiteY12" fmla="*/ 161167 h 912281"/>
              <a:gd name="connsiteX13" fmla="*/ 1654629 w 2160202"/>
              <a:gd name="connsiteY13" fmla="*/ 182938 h 912281"/>
              <a:gd name="connsiteX14" fmla="*/ 1687286 w 2160202"/>
              <a:gd name="connsiteY14" fmla="*/ 193824 h 912281"/>
              <a:gd name="connsiteX15" fmla="*/ 1719943 w 2160202"/>
              <a:gd name="connsiteY15" fmla="*/ 226481 h 912281"/>
              <a:gd name="connsiteX16" fmla="*/ 1741714 w 2160202"/>
              <a:gd name="connsiteY16" fmla="*/ 291795 h 912281"/>
              <a:gd name="connsiteX17" fmla="*/ 1752600 w 2160202"/>
              <a:gd name="connsiteY17" fmla="*/ 324453 h 912281"/>
              <a:gd name="connsiteX18" fmla="*/ 1774371 w 2160202"/>
              <a:gd name="connsiteY18" fmla="*/ 357110 h 912281"/>
              <a:gd name="connsiteX19" fmla="*/ 1807029 w 2160202"/>
              <a:gd name="connsiteY19" fmla="*/ 367995 h 912281"/>
              <a:gd name="connsiteX20" fmla="*/ 1828800 w 2160202"/>
              <a:gd name="connsiteY20" fmla="*/ 389767 h 912281"/>
              <a:gd name="connsiteX21" fmla="*/ 1905000 w 2160202"/>
              <a:gd name="connsiteY21" fmla="*/ 411538 h 912281"/>
              <a:gd name="connsiteX22" fmla="*/ 1915886 w 2160202"/>
              <a:gd name="connsiteY22" fmla="*/ 444195 h 912281"/>
              <a:gd name="connsiteX23" fmla="*/ 1937657 w 2160202"/>
              <a:gd name="connsiteY23" fmla="*/ 465967 h 912281"/>
              <a:gd name="connsiteX24" fmla="*/ 1959429 w 2160202"/>
              <a:gd name="connsiteY24" fmla="*/ 498624 h 912281"/>
              <a:gd name="connsiteX25" fmla="*/ 1981200 w 2160202"/>
              <a:gd name="connsiteY25" fmla="*/ 553053 h 912281"/>
              <a:gd name="connsiteX26" fmla="*/ 2122714 w 2160202"/>
              <a:gd name="connsiteY26" fmla="*/ 651024 h 912281"/>
              <a:gd name="connsiteX27" fmla="*/ 2155371 w 2160202"/>
              <a:gd name="connsiteY27" fmla="*/ 738110 h 912281"/>
              <a:gd name="connsiteX28" fmla="*/ 2144486 w 2160202"/>
              <a:gd name="connsiteY28" fmla="*/ 912281 h 912281"/>
              <a:gd name="connsiteX29" fmla="*/ 2144486 w 2160202"/>
              <a:gd name="connsiteY29" fmla="*/ 912281 h 912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160202" h="912281">
                <a:moveTo>
                  <a:pt x="0" y="52310"/>
                </a:moveTo>
                <a:lnTo>
                  <a:pt x="0" y="52310"/>
                </a:lnTo>
                <a:cubicBezTo>
                  <a:pt x="65314" y="41424"/>
                  <a:pt x="130133" y="26965"/>
                  <a:pt x="195943" y="19653"/>
                </a:cubicBezTo>
                <a:cubicBezTo>
                  <a:pt x="372819" y="0"/>
                  <a:pt x="437609" y="10944"/>
                  <a:pt x="620486" y="19653"/>
                </a:cubicBezTo>
                <a:cubicBezTo>
                  <a:pt x="631372" y="23281"/>
                  <a:pt x="642110" y="27386"/>
                  <a:pt x="653143" y="30538"/>
                </a:cubicBezTo>
                <a:cubicBezTo>
                  <a:pt x="669420" y="35189"/>
                  <a:pt x="711942" y="43610"/>
                  <a:pt x="729343" y="52310"/>
                </a:cubicBezTo>
                <a:cubicBezTo>
                  <a:pt x="741045" y="58161"/>
                  <a:pt x="751784" y="65908"/>
                  <a:pt x="762000" y="74081"/>
                </a:cubicBezTo>
                <a:cubicBezTo>
                  <a:pt x="770014" y="80492"/>
                  <a:pt x="774970" y="90573"/>
                  <a:pt x="783771" y="95853"/>
                </a:cubicBezTo>
                <a:cubicBezTo>
                  <a:pt x="794921" y="102543"/>
                  <a:pt x="851844" y="115592"/>
                  <a:pt x="859971" y="117624"/>
                </a:cubicBezTo>
                <a:cubicBezTo>
                  <a:pt x="870857" y="124881"/>
                  <a:pt x="880098" y="135636"/>
                  <a:pt x="892629" y="139395"/>
                </a:cubicBezTo>
                <a:cubicBezTo>
                  <a:pt x="961926" y="160184"/>
                  <a:pt x="1016035" y="145989"/>
                  <a:pt x="1088571" y="139395"/>
                </a:cubicBezTo>
                <a:lnTo>
                  <a:pt x="1556657" y="150281"/>
                </a:lnTo>
                <a:cubicBezTo>
                  <a:pt x="1578710" y="151181"/>
                  <a:pt x="1601032" y="154187"/>
                  <a:pt x="1621971" y="161167"/>
                </a:cubicBezTo>
                <a:cubicBezTo>
                  <a:pt x="1634383" y="165304"/>
                  <a:pt x="1642927" y="177087"/>
                  <a:pt x="1654629" y="182938"/>
                </a:cubicBezTo>
                <a:cubicBezTo>
                  <a:pt x="1664892" y="188070"/>
                  <a:pt x="1676400" y="190195"/>
                  <a:pt x="1687286" y="193824"/>
                </a:cubicBezTo>
                <a:cubicBezTo>
                  <a:pt x="1698172" y="204710"/>
                  <a:pt x="1712467" y="213024"/>
                  <a:pt x="1719943" y="226481"/>
                </a:cubicBezTo>
                <a:cubicBezTo>
                  <a:pt x="1731088" y="246542"/>
                  <a:pt x="1734457" y="270024"/>
                  <a:pt x="1741714" y="291795"/>
                </a:cubicBezTo>
                <a:cubicBezTo>
                  <a:pt x="1745343" y="302681"/>
                  <a:pt x="1746235" y="314905"/>
                  <a:pt x="1752600" y="324453"/>
                </a:cubicBezTo>
                <a:cubicBezTo>
                  <a:pt x="1759857" y="335339"/>
                  <a:pt x="1764155" y="348937"/>
                  <a:pt x="1774371" y="357110"/>
                </a:cubicBezTo>
                <a:cubicBezTo>
                  <a:pt x="1783331" y="364278"/>
                  <a:pt x="1796143" y="364367"/>
                  <a:pt x="1807029" y="367995"/>
                </a:cubicBezTo>
                <a:cubicBezTo>
                  <a:pt x="1814286" y="375252"/>
                  <a:pt x="1819999" y="384486"/>
                  <a:pt x="1828800" y="389767"/>
                </a:cubicBezTo>
                <a:cubicBezTo>
                  <a:pt x="1839957" y="396462"/>
                  <a:pt x="1896863" y="409504"/>
                  <a:pt x="1905000" y="411538"/>
                </a:cubicBezTo>
                <a:cubicBezTo>
                  <a:pt x="1908629" y="422424"/>
                  <a:pt x="1909982" y="434356"/>
                  <a:pt x="1915886" y="444195"/>
                </a:cubicBezTo>
                <a:cubicBezTo>
                  <a:pt x="1921166" y="452996"/>
                  <a:pt x="1931246" y="457953"/>
                  <a:pt x="1937657" y="465967"/>
                </a:cubicBezTo>
                <a:cubicBezTo>
                  <a:pt x="1945830" y="476183"/>
                  <a:pt x="1952172" y="487738"/>
                  <a:pt x="1959429" y="498624"/>
                </a:cubicBezTo>
                <a:cubicBezTo>
                  <a:pt x="1972880" y="538979"/>
                  <a:pt x="1965182" y="521018"/>
                  <a:pt x="1981200" y="553053"/>
                </a:cubicBezTo>
                <a:lnTo>
                  <a:pt x="2122714" y="651024"/>
                </a:lnTo>
                <a:cubicBezTo>
                  <a:pt x="2133600" y="680053"/>
                  <a:pt x="2152796" y="707214"/>
                  <a:pt x="2155371" y="738110"/>
                </a:cubicBezTo>
                <a:cubicBezTo>
                  <a:pt x="2160202" y="796079"/>
                  <a:pt x="2144486" y="912281"/>
                  <a:pt x="2144486" y="912281"/>
                </a:cubicBezTo>
                <a:lnTo>
                  <a:pt x="2144486" y="912281"/>
                </a:lnTo>
              </a:path>
            </a:pathLst>
          </a:cu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rgbClr val="5F5F5F"/>
              </a:solidFill>
              <a:effectLst/>
              <a:latin typeface="CorpidIS" pitchFamily="50" charset="0"/>
              <a:cs typeface="Arial" charset="0"/>
            </a:endParaRPr>
          </a:p>
        </p:txBody>
      </p:sp>
      <p:sp>
        <p:nvSpPr>
          <p:cNvPr id="25" name="Freeform 24"/>
          <p:cNvSpPr/>
          <p:nvPr/>
        </p:nvSpPr>
        <p:spPr bwMode="auto">
          <a:xfrm rot="20306049">
            <a:off x="5456141" y="3794081"/>
            <a:ext cx="2160202" cy="912281"/>
          </a:xfrm>
          <a:custGeom>
            <a:avLst/>
            <a:gdLst>
              <a:gd name="connsiteX0" fmla="*/ 0 w 2160202"/>
              <a:gd name="connsiteY0" fmla="*/ 52310 h 912281"/>
              <a:gd name="connsiteX1" fmla="*/ 0 w 2160202"/>
              <a:gd name="connsiteY1" fmla="*/ 52310 h 912281"/>
              <a:gd name="connsiteX2" fmla="*/ 195943 w 2160202"/>
              <a:gd name="connsiteY2" fmla="*/ 19653 h 912281"/>
              <a:gd name="connsiteX3" fmla="*/ 620486 w 2160202"/>
              <a:gd name="connsiteY3" fmla="*/ 19653 h 912281"/>
              <a:gd name="connsiteX4" fmla="*/ 653143 w 2160202"/>
              <a:gd name="connsiteY4" fmla="*/ 30538 h 912281"/>
              <a:gd name="connsiteX5" fmla="*/ 729343 w 2160202"/>
              <a:gd name="connsiteY5" fmla="*/ 52310 h 912281"/>
              <a:gd name="connsiteX6" fmla="*/ 762000 w 2160202"/>
              <a:gd name="connsiteY6" fmla="*/ 74081 h 912281"/>
              <a:gd name="connsiteX7" fmla="*/ 783771 w 2160202"/>
              <a:gd name="connsiteY7" fmla="*/ 95853 h 912281"/>
              <a:gd name="connsiteX8" fmla="*/ 859971 w 2160202"/>
              <a:gd name="connsiteY8" fmla="*/ 117624 h 912281"/>
              <a:gd name="connsiteX9" fmla="*/ 892629 w 2160202"/>
              <a:gd name="connsiteY9" fmla="*/ 139395 h 912281"/>
              <a:gd name="connsiteX10" fmla="*/ 1088571 w 2160202"/>
              <a:gd name="connsiteY10" fmla="*/ 139395 h 912281"/>
              <a:gd name="connsiteX11" fmla="*/ 1556657 w 2160202"/>
              <a:gd name="connsiteY11" fmla="*/ 150281 h 912281"/>
              <a:gd name="connsiteX12" fmla="*/ 1621971 w 2160202"/>
              <a:gd name="connsiteY12" fmla="*/ 161167 h 912281"/>
              <a:gd name="connsiteX13" fmla="*/ 1654629 w 2160202"/>
              <a:gd name="connsiteY13" fmla="*/ 182938 h 912281"/>
              <a:gd name="connsiteX14" fmla="*/ 1687286 w 2160202"/>
              <a:gd name="connsiteY14" fmla="*/ 193824 h 912281"/>
              <a:gd name="connsiteX15" fmla="*/ 1719943 w 2160202"/>
              <a:gd name="connsiteY15" fmla="*/ 226481 h 912281"/>
              <a:gd name="connsiteX16" fmla="*/ 1741714 w 2160202"/>
              <a:gd name="connsiteY16" fmla="*/ 291795 h 912281"/>
              <a:gd name="connsiteX17" fmla="*/ 1752600 w 2160202"/>
              <a:gd name="connsiteY17" fmla="*/ 324453 h 912281"/>
              <a:gd name="connsiteX18" fmla="*/ 1774371 w 2160202"/>
              <a:gd name="connsiteY18" fmla="*/ 357110 h 912281"/>
              <a:gd name="connsiteX19" fmla="*/ 1807029 w 2160202"/>
              <a:gd name="connsiteY19" fmla="*/ 367995 h 912281"/>
              <a:gd name="connsiteX20" fmla="*/ 1828800 w 2160202"/>
              <a:gd name="connsiteY20" fmla="*/ 389767 h 912281"/>
              <a:gd name="connsiteX21" fmla="*/ 1905000 w 2160202"/>
              <a:gd name="connsiteY21" fmla="*/ 411538 h 912281"/>
              <a:gd name="connsiteX22" fmla="*/ 1915886 w 2160202"/>
              <a:gd name="connsiteY22" fmla="*/ 444195 h 912281"/>
              <a:gd name="connsiteX23" fmla="*/ 1937657 w 2160202"/>
              <a:gd name="connsiteY23" fmla="*/ 465967 h 912281"/>
              <a:gd name="connsiteX24" fmla="*/ 1959429 w 2160202"/>
              <a:gd name="connsiteY24" fmla="*/ 498624 h 912281"/>
              <a:gd name="connsiteX25" fmla="*/ 1981200 w 2160202"/>
              <a:gd name="connsiteY25" fmla="*/ 553053 h 912281"/>
              <a:gd name="connsiteX26" fmla="*/ 2122714 w 2160202"/>
              <a:gd name="connsiteY26" fmla="*/ 651024 h 912281"/>
              <a:gd name="connsiteX27" fmla="*/ 2155371 w 2160202"/>
              <a:gd name="connsiteY27" fmla="*/ 738110 h 912281"/>
              <a:gd name="connsiteX28" fmla="*/ 2144486 w 2160202"/>
              <a:gd name="connsiteY28" fmla="*/ 912281 h 912281"/>
              <a:gd name="connsiteX29" fmla="*/ 2144486 w 2160202"/>
              <a:gd name="connsiteY29" fmla="*/ 912281 h 912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160202" h="912281">
                <a:moveTo>
                  <a:pt x="0" y="52310"/>
                </a:moveTo>
                <a:lnTo>
                  <a:pt x="0" y="52310"/>
                </a:lnTo>
                <a:cubicBezTo>
                  <a:pt x="65314" y="41424"/>
                  <a:pt x="130133" y="26965"/>
                  <a:pt x="195943" y="19653"/>
                </a:cubicBezTo>
                <a:cubicBezTo>
                  <a:pt x="372819" y="0"/>
                  <a:pt x="437609" y="10944"/>
                  <a:pt x="620486" y="19653"/>
                </a:cubicBezTo>
                <a:cubicBezTo>
                  <a:pt x="631372" y="23281"/>
                  <a:pt x="642110" y="27386"/>
                  <a:pt x="653143" y="30538"/>
                </a:cubicBezTo>
                <a:cubicBezTo>
                  <a:pt x="669420" y="35189"/>
                  <a:pt x="711942" y="43610"/>
                  <a:pt x="729343" y="52310"/>
                </a:cubicBezTo>
                <a:cubicBezTo>
                  <a:pt x="741045" y="58161"/>
                  <a:pt x="751784" y="65908"/>
                  <a:pt x="762000" y="74081"/>
                </a:cubicBezTo>
                <a:cubicBezTo>
                  <a:pt x="770014" y="80492"/>
                  <a:pt x="774970" y="90573"/>
                  <a:pt x="783771" y="95853"/>
                </a:cubicBezTo>
                <a:cubicBezTo>
                  <a:pt x="794921" y="102543"/>
                  <a:pt x="851844" y="115592"/>
                  <a:pt x="859971" y="117624"/>
                </a:cubicBezTo>
                <a:cubicBezTo>
                  <a:pt x="870857" y="124881"/>
                  <a:pt x="880098" y="135636"/>
                  <a:pt x="892629" y="139395"/>
                </a:cubicBezTo>
                <a:cubicBezTo>
                  <a:pt x="961926" y="160184"/>
                  <a:pt x="1016035" y="145989"/>
                  <a:pt x="1088571" y="139395"/>
                </a:cubicBezTo>
                <a:lnTo>
                  <a:pt x="1556657" y="150281"/>
                </a:lnTo>
                <a:cubicBezTo>
                  <a:pt x="1578710" y="151181"/>
                  <a:pt x="1601032" y="154187"/>
                  <a:pt x="1621971" y="161167"/>
                </a:cubicBezTo>
                <a:cubicBezTo>
                  <a:pt x="1634383" y="165304"/>
                  <a:pt x="1642927" y="177087"/>
                  <a:pt x="1654629" y="182938"/>
                </a:cubicBezTo>
                <a:cubicBezTo>
                  <a:pt x="1664892" y="188070"/>
                  <a:pt x="1676400" y="190195"/>
                  <a:pt x="1687286" y="193824"/>
                </a:cubicBezTo>
                <a:cubicBezTo>
                  <a:pt x="1698172" y="204710"/>
                  <a:pt x="1712467" y="213024"/>
                  <a:pt x="1719943" y="226481"/>
                </a:cubicBezTo>
                <a:cubicBezTo>
                  <a:pt x="1731088" y="246542"/>
                  <a:pt x="1734457" y="270024"/>
                  <a:pt x="1741714" y="291795"/>
                </a:cubicBezTo>
                <a:cubicBezTo>
                  <a:pt x="1745343" y="302681"/>
                  <a:pt x="1746235" y="314905"/>
                  <a:pt x="1752600" y="324453"/>
                </a:cubicBezTo>
                <a:cubicBezTo>
                  <a:pt x="1759857" y="335339"/>
                  <a:pt x="1764155" y="348937"/>
                  <a:pt x="1774371" y="357110"/>
                </a:cubicBezTo>
                <a:cubicBezTo>
                  <a:pt x="1783331" y="364278"/>
                  <a:pt x="1796143" y="364367"/>
                  <a:pt x="1807029" y="367995"/>
                </a:cubicBezTo>
                <a:cubicBezTo>
                  <a:pt x="1814286" y="375252"/>
                  <a:pt x="1819999" y="384486"/>
                  <a:pt x="1828800" y="389767"/>
                </a:cubicBezTo>
                <a:cubicBezTo>
                  <a:pt x="1839957" y="396462"/>
                  <a:pt x="1896863" y="409504"/>
                  <a:pt x="1905000" y="411538"/>
                </a:cubicBezTo>
                <a:cubicBezTo>
                  <a:pt x="1908629" y="422424"/>
                  <a:pt x="1909982" y="434356"/>
                  <a:pt x="1915886" y="444195"/>
                </a:cubicBezTo>
                <a:cubicBezTo>
                  <a:pt x="1921166" y="452996"/>
                  <a:pt x="1931246" y="457953"/>
                  <a:pt x="1937657" y="465967"/>
                </a:cubicBezTo>
                <a:cubicBezTo>
                  <a:pt x="1945830" y="476183"/>
                  <a:pt x="1952172" y="487738"/>
                  <a:pt x="1959429" y="498624"/>
                </a:cubicBezTo>
                <a:cubicBezTo>
                  <a:pt x="1972880" y="538979"/>
                  <a:pt x="1965182" y="521018"/>
                  <a:pt x="1981200" y="553053"/>
                </a:cubicBezTo>
                <a:lnTo>
                  <a:pt x="2122714" y="651024"/>
                </a:lnTo>
                <a:cubicBezTo>
                  <a:pt x="2133600" y="680053"/>
                  <a:pt x="2152796" y="707214"/>
                  <a:pt x="2155371" y="738110"/>
                </a:cubicBezTo>
                <a:cubicBezTo>
                  <a:pt x="2160202" y="796079"/>
                  <a:pt x="2144486" y="912281"/>
                  <a:pt x="2144486" y="912281"/>
                </a:cubicBezTo>
                <a:lnTo>
                  <a:pt x="2144486" y="912281"/>
                </a:lnTo>
              </a:path>
            </a:pathLst>
          </a:cu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rgbClr val="5F5F5F"/>
              </a:solidFill>
              <a:effectLst/>
              <a:latin typeface="CorpidIS" pitchFamily="50" charset="0"/>
              <a:cs typeface="Arial" charset="0"/>
            </a:endParaRPr>
          </a:p>
        </p:txBody>
      </p:sp>
      <p:pic>
        <p:nvPicPr>
          <p:cNvPr id="3010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39952" y="5733256"/>
            <a:ext cx="4885351" cy="746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7" name="Straight Connector 26"/>
          <p:cNvCxnSpPr/>
          <p:nvPr/>
        </p:nvCxnSpPr>
        <p:spPr bwMode="auto">
          <a:xfrm rot="5400000">
            <a:off x="791580" y="2096852"/>
            <a:ext cx="1080120" cy="43204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36" name="Freeform 35"/>
          <p:cNvSpPr/>
          <p:nvPr/>
        </p:nvSpPr>
        <p:spPr bwMode="auto">
          <a:xfrm>
            <a:off x="1763688" y="2704728"/>
            <a:ext cx="344151" cy="76200"/>
          </a:xfrm>
          <a:custGeom>
            <a:avLst/>
            <a:gdLst>
              <a:gd name="connsiteX0" fmla="*/ 0 w 272143"/>
              <a:gd name="connsiteY0" fmla="*/ 10886 h 76200"/>
              <a:gd name="connsiteX1" fmla="*/ 32657 w 272143"/>
              <a:gd name="connsiteY1" fmla="*/ 0 h 76200"/>
              <a:gd name="connsiteX2" fmla="*/ 65314 w 272143"/>
              <a:gd name="connsiteY2" fmla="*/ 10886 h 76200"/>
              <a:gd name="connsiteX3" fmla="*/ 152400 w 272143"/>
              <a:gd name="connsiteY3" fmla="*/ 76200 h 76200"/>
              <a:gd name="connsiteX4" fmla="*/ 272143 w 272143"/>
              <a:gd name="connsiteY4" fmla="*/ 54428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2143" h="76200">
                <a:moveTo>
                  <a:pt x="0" y="10886"/>
                </a:moveTo>
                <a:cubicBezTo>
                  <a:pt x="10886" y="7257"/>
                  <a:pt x="21182" y="0"/>
                  <a:pt x="32657" y="0"/>
                </a:cubicBezTo>
                <a:cubicBezTo>
                  <a:pt x="44132" y="0"/>
                  <a:pt x="55283" y="5314"/>
                  <a:pt x="65314" y="10886"/>
                </a:cubicBezTo>
                <a:cubicBezTo>
                  <a:pt x="120709" y="41661"/>
                  <a:pt x="119368" y="43166"/>
                  <a:pt x="152400" y="76200"/>
                </a:cubicBezTo>
                <a:cubicBezTo>
                  <a:pt x="264815" y="53716"/>
                  <a:pt x="224253" y="54428"/>
                  <a:pt x="272143" y="54428"/>
                </a:cubicBezTo>
              </a:path>
            </a:pathLst>
          </a:cu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rgbClr val="5F5F5F"/>
              </a:solidFill>
              <a:effectLst/>
              <a:latin typeface="CorpidIS" pitchFamily="50" charset="0"/>
              <a:cs typeface="Arial" charset="0"/>
            </a:endParaRPr>
          </a:p>
        </p:txBody>
      </p:sp>
      <p:cxnSp>
        <p:nvCxnSpPr>
          <p:cNvPr id="29" name="Straight Connector 28"/>
          <p:cNvCxnSpPr/>
          <p:nvPr/>
        </p:nvCxnSpPr>
        <p:spPr bwMode="auto">
          <a:xfrm rot="5400000">
            <a:off x="2231740" y="2528900"/>
            <a:ext cx="1296144" cy="50405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Straight Connector 33"/>
          <p:cNvCxnSpPr/>
          <p:nvPr/>
        </p:nvCxnSpPr>
        <p:spPr bwMode="auto">
          <a:xfrm rot="5400000">
            <a:off x="1507468" y="2821124"/>
            <a:ext cx="360040" cy="13563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Straight Connector 41"/>
          <p:cNvCxnSpPr/>
          <p:nvPr/>
        </p:nvCxnSpPr>
        <p:spPr bwMode="auto">
          <a:xfrm rot="5400000">
            <a:off x="1867508" y="2893132"/>
            <a:ext cx="360040" cy="13563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Straight Arrow Connector 43"/>
          <p:cNvCxnSpPr/>
          <p:nvPr/>
        </p:nvCxnSpPr>
        <p:spPr bwMode="auto">
          <a:xfrm>
            <a:off x="1115616" y="2780928"/>
            <a:ext cx="504056" cy="216024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/>
          </a:ln>
          <a:effectLst/>
        </p:spPr>
      </p:cxnSp>
      <p:cxnSp>
        <p:nvCxnSpPr>
          <p:cNvPr id="47" name="Straight Arrow Connector 46"/>
          <p:cNvCxnSpPr/>
          <p:nvPr/>
        </p:nvCxnSpPr>
        <p:spPr bwMode="auto">
          <a:xfrm>
            <a:off x="1979712" y="3140968"/>
            <a:ext cx="648072" cy="288032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/>
          </a:ln>
          <a:effectLst/>
        </p:spPr>
      </p:cxnSp>
      <p:cxnSp>
        <p:nvCxnSpPr>
          <p:cNvPr id="50" name="Straight Connector 49"/>
          <p:cNvCxnSpPr/>
          <p:nvPr/>
        </p:nvCxnSpPr>
        <p:spPr bwMode="auto">
          <a:xfrm rot="5400000" flipH="1" flipV="1">
            <a:off x="611560" y="3212976"/>
            <a:ext cx="864096" cy="14401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395536" y="3717032"/>
            <a:ext cx="1268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s-IS" sz="1400" dirty="0" smtClean="0"/>
              <a:t>reject closes</a:t>
            </a:r>
          </a:p>
        </p:txBody>
      </p:sp>
      <p:cxnSp>
        <p:nvCxnSpPr>
          <p:cNvPr id="53" name="Straight Connector 52"/>
          <p:cNvCxnSpPr/>
          <p:nvPr/>
        </p:nvCxnSpPr>
        <p:spPr bwMode="auto">
          <a:xfrm rot="5400000" flipH="1" flipV="1">
            <a:off x="1583668" y="3609020"/>
            <a:ext cx="1152128" cy="93610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4" name="TextBox 53"/>
          <p:cNvSpPr txBox="1"/>
          <p:nvPr/>
        </p:nvSpPr>
        <p:spPr>
          <a:xfrm>
            <a:off x="539552" y="4581128"/>
            <a:ext cx="12378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400" dirty="0" smtClean="0"/>
              <a:t>reject opens</a:t>
            </a:r>
            <a:endParaRPr lang="en-US" sz="1400" dirty="0"/>
          </a:p>
        </p:txBody>
      </p:sp>
      <p:sp>
        <p:nvSpPr>
          <p:cNvPr id="58" name="TextBox 57"/>
          <p:cNvSpPr txBox="1"/>
          <p:nvPr/>
        </p:nvSpPr>
        <p:spPr>
          <a:xfrm rot="19161820">
            <a:off x="2725504" y="5040631"/>
            <a:ext cx="2409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400" dirty="0" smtClean="0"/>
              <a:t>reject in position “closed”</a:t>
            </a:r>
            <a:endParaRPr lang="en-US" sz="1400" dirty="0"/>
          </a:p>
        </p:txBody>
      </p:sp>
      <p:sp>
        <p:nvSpPr>
          <p:cNvPr id="59" name="TextBox 58"/>
          <p:cNvSpPr txBox="1"/>
          <p:nvPr/>
        </p:nvSpPr>
        <p:spPr>
          <a:xfrm rot="18162516">
            <a:off x="1804603" y="4815396"/>
            <a:ext cx="2265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400" dirty="0" smtClean="0"/>
              <a:t>reject in position “open”</a:t>
            </a:r>
            <a:endParaRPr lang="en-US" sz="1400" dirty="0"/>
          </a:p>
        </p:txBody>
      </p:sp>
      <p:cxnSp>
        <p:nvCxnSpPr>
          <p:cNvPr id="39" name="Straight Arrow Connector 38"/>
          <p:cNvCxnSpPr/>
          <p:nvPr/>
        </p:nvCxnSpPr>
        <p:spPr bwMode="auto">
          <a:xfrm>
            <a:off x="755576" y="1916832"/>
            <a:ext cx="1008112" cy="433636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" name="Straight Arrow Connector 42"/>
          <p:cNvCxnSpPr/>
          <p:nvPr/>
        </p:nvCxnSpPr>
        <p:spPr bwMode="auto">
          <a:xfrm>
            <a:off x="6948264" y="3789040"/>
            <a:ext cx="1008112" cy="1588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rel_Food_Systems_PP_Template">
  <a:themeElements>
    <a:clrScheme name="Marel_Food_Systems_PP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arel_Food_Systems_PP_Template">
      <a:majorFont>
        <a:latin typeface="CorpidIS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rgbClr val="5F5F5F"/>
            </a:solidFill>
            <a:effectLst/>
            <a:latin typeface="CorpidIS" pitchFamily="50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rgbClr val="5F5F5F"/>
            </a:solidFill>
            <a:effectLst/>
            <a:latin typeface="CorpidIS" pitchFamily="50" charset="0"/>
            <a:cs typeface="Arial" charset="0"/>
          </a:defRPr>
        </a:defPPr>
      </a:lstStyle>
    </a:lnDef>
  </a:objectDefaults>
  <a:extraClrSchemeLst>
    <a:extraClrScheme>
      <a:clrScheme name="Marel_Food_Systems_PP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rel_Food_Systems_PP_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rel_Food_Systems_PP_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rel_Food_Systems_PP_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rel_Food_Systems_PP_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rel_Food_Systems_PP_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rel_Food_Systems_PP_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rel_Food_Systems_PP_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rel_Food_Systems_PP_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rel_Food_Systems_PP_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rel_Food_Systems_PP_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rel_Food_Systems_PP_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Knowledge Base Document" ma:contentTypeID="0x0101004E0C76BA01FE49858DBF5D9F1A50EB5B00040E8FBC30D67547852BE0DDCDE0E497" ma:contentTypeVersion="1" ma:contentTypeDescription="Upload a document to the Knowledge Base" ma:contentTypeScope="" ma:versionID="dc789bec2e61c0ae541fb09a82194724">
  <xsd:schema xmlns:xsd="http://www.w3.org/2001/XMLSchema" xmlns:xs="http://www.w3.org/2001/XMLSchema" xmlns:p="http://schemas.microsoft.com/office/2006/metadata/properties" xmlns:ns2="7B6AB1F9-3367-4B4C-BE24-5F9AFD436F18" xmlns:ns3="7b6ab1f9-3367-4b4c-be24-5f9afd436f18" targetNamespace="http://schemas.microsoft.com/office/2006/metadata/properties" ma:root="true" ma:fieldsID="609f23d8c84a3d7914faa21cf2764833" ns2:_="" ns3:_="">
    <xsd:import namespace="7B6AB1F9-3367-4B4C-BE24-5F9AFD436F18"/>
    <xsd:import namespace="7b6ab1f9-3367-4b4c-be24-5f9afd436f18"/>
    <xsd:element name="properties">
      <xsd:complexType>
        <xsd:sequence>
          <xsd:element name="documentManagement">
            <xsd:complexType>
              <xsd:all>
                <xsd:element ref="ns2:KBKeywords" minOccurs="0"/>
                <xsd:element ref="ns2:KBRelatedArticles" minOccurs="0"/>
                <xsd:element ref="ns3:Document_x0020_Catego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6AB1F9-3367-4B4C-BE24-5F9AFD436F18" elementFormDefault="qualified">
    <xsd:import namespace="http://schemas.microsoft.com/office/2006/documentManagement/types"/>
    <xsd:import namespace="http://schemas.microsoft.com/office/infopath/2007/PartnerControls"/>
    <xsd:element name="KBKeywords" ma:index="8" nillable="true" ma:displayName="Keywords" ma:description="Select one or more keywords" ma:list="{6D837E9C-2012-4800-9671-DF50A3B39EA6}" ma:internalName="KBKeywords" ma:showField="Titl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KBRelatedArticles" ma:index="9" nillable="true" ma:displayName="Related Articles" ma:list="Self" ma:internalName="KBRelatedArticles" ma:showField="TextFileNam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6ab1f9-3367-4b4c-be24-5f9afd436f18" elementFormDefault="qualified">
    <xsd:import namespace="http://schemas.microsoft.com/office/2006/documentManagement/types"/>
    <xsd:import namespace="http://schemas.microsoft.com/office/infopath/2007/PartnerControls"/>
    <xsd:element name="Document_x0020_Category" ma:index="10" nillable="true" ma:displayName="Document Category" ma:format="Dropdown" ma:internalName="Document_x0020_Category">
      <xsd:simpleType>
        <xsd:restriction base="dms:Choice">
          <xsd:enumeration value="X-ray equipment"/>
          <xsd:enumeration value="Image analysis &amp; bone detection"/>
          <xsd:enumeration value="Troubleshooting, bugfixes and known problems"/>
          <xsd:enumeration value="Training material"/>
          <xsd:enumeration value="Service software &amp; tools"/>
          <xsd:enumeration value="Electrical diagrams"/>
          <xsd:enumeration value="Systems and external processing equipment"/>
          <xsd:enumeration value="Software Release Notes"/>
          <xsd:enumeration value="Software deb packages (SX23 only)"/>
          <xsd:enumeration value="Update/bug fix 11.02 (SX23 only)"/>
          <xsd:enumeration value="Hardware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Category xmlns="7b6ab1f9-3367-4b4c-be24-5f9afd436f18">Training material</Document_x0020_Category>
    <KBKeywords xmlns="7B6AB1F9-3367-4B4C-BE24-5F9AFD436F18">
      <Value>1</Value>
    </KBKeywords>
    <KBRelatedArticles xmlns="7B6AB1F9-3367-4B4C-BE24-5F9AFD436F18"/>
  </documentManagement>
</p:properties>
</file>

<file path=customXml/itemProps1.xml><?xml version="1.0" encoding="utf-8"?>
<ds:datastoreItem xmlns:ds="http://schemas.openxmlformats.org/officeDocument/2006/customXml" ds:itemID="{739F54F0-0B9E-4954-867A-B27F7DC27E18}"/>
</file>

<file path=customXml/itemProps2.xml><?xml version="1.0" encoding="utf-8"?>
<ds:datastoreItem xmlns:ds="http://schemas.openxmlformats.org/officeDocument/2006/customXml" ds:itemID="{16FAF013-CE3C-43C9-A40F-F096605745AB}"/>
</file>

<file path=customXml/itemProps3.xml><?xml version="1.0" encoding="utf-8"?>
<ds:datastoreItem xmlns:ds="http://schemas.openxmlformats.org/officeDocument/2006/customXml" ds:itemID="{F1EDB54B-58A3-485D-83BC-5122C5036D87}"/>
</file>

<file path=docProps/app.xml><?xml version="1.0" encoding="utf-8"?>
<Properties xmlns="http://schemas.openxmlformats.org/officeDocument/2006/extended-properties" xmlns:vt="http://schemas.openxmlformats.org/officeDocument/2006/docPropsVTypes">
  <Template>marel</Template>
  <TotalTime>19046</TotalTime>
  <Words>199</Words>
  <Application>Microsoft Office PowerPoint</Application>
  <PresentationFormat>On-screen Show (4:3)</PresentationFormat>
  <Paragraphs>32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Marel_Food_Systems_PP_Template</vt:lpstr>
      <vt:lpstr>Piece-based and flow-based</vt:lpstr>
      <vt:lpstr>Timing of reject, piece-based</vt:lpstr>
      <vt:lpstr>Timing of reject, flow-based</vt:lpstr>
    </vt:vector>
  </TitlesOfParts>
  <Company>MAREL HF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SensorX23 service seminar</dc:title>
  <dc:creator>Sævar Garðarsson</dc:creator>
  <cp:lastModifiedBy>saevar.gardarsson</cp:lastModifiedBy>
  <cp:revision>1183</cp:revision>
  <dcterms:created xsi:type="dcterms:W3CDTF">2008-08-28T22:05:12Z</dcterms:created>
  <dcterms:modified xsi:type="dcterms:W3CDTF">2011-07-13T15:23:37Z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0x0101004E0C76BA01FE49858DBF5D9F1A50EB5B00040E8FBC30D67547852BE0DDCDE0E497</vt:lpwstr>
  </property>
</Properties>
</file>